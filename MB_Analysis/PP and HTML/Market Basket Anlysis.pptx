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Oswald"/>
      <p:regular r:id="rId32"/>
      <p:bold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6">
          <p15:clr>
            <a:srgbClr val="A4A3A4"/>
          </p15:clr>
        </p15:guide>
        <p15:guide id="2" pos="3840">
          <p15:clr>
            <a:srgbClr val="A4A3A4"/>
          </p15:clr>
        </p15:guide>
        <p15:guide id="3" orient="horz" pos="192">
          <p15:clr>
            <a:srgbClr val="A4A3A4"/>
          </p15:clr>
        </p15:guide>
        <p15:guide id="4" pos="552">
          <p15:clr>
            <a:srgbClr val="A4A3A4"/>
          </p15:clr>
        </p15:guide>
        <p15:guide id="5" pos="5424">
          <p15:clr>
            <a:srgbClr val="A4A3A4"/>
          </p15:clr>
        </p15:guide>
        <p15:guide id="6" pos="3144">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38" roundtripDataSignature="AMtx7mjVdgNzP8fdkOUtCJnpRlpi72zv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6" orient="horz"/>
        <p:guide pos="3840"/>
        <p:guide pos="192" orient="horz"/>
        <p:guide pos="552"/>
        <p:guide pos="5424"/>
        <p:guide pos="3144"/>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swald-bold.fntdata"/><Relationship Id="rId10" Type="http://schemas.openxmlformats.org/officeDocument/2006/relationships/slide" Target="slides/slide5.xml"/><Relationship Id="rId32" Type="http://schemas.openxmlformats.org/officeDocument/2006/relationships/font" Target="fonts/Oswald-regular.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1pPr>
            <a:lvl2pPr indent="-228600" lvl="1" marL="9144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 name="Google Shape;6;n"/>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dk1"/>
                </a:solidFill>
                <a:latin typeface="Arial"/>
                <a:ea typeface="Arial"/>
                <a:cs typeface="Arial"/>
                <a:sym typeface="Arial"/>
              </a:rPr>
              <a:t>‹#›</a:t>
            </a:fld>
            <a:endParaRPr b="0" i="0" sz="900" u="none" cap="none" strike="noStrike">
              <a:solidFill>
                <a:schemeClr val="dk1"/>
              </a:solidFill>
              <a:latin typeface="Arial"/>
              <a:ea typeface="Arial"/>
              <a:cs typeface="Arial"/>
              <a:sym typeface="Arial"/>
            </a:endParaRPr>
          </a:p>
        </p:txBody>
      </p:sp>
      <p:sp>
        <p:nvSpPr>
          <p:cNvPr id="7" name="Google Shape;7;n"/>
          <p:cNvSpPr txBox="1"/>
          <p:nvPr>
            <p:ph idx="3" type="hdr"/>
          </p:nvPr>
        </p:nvSpPr>
        <p:spPr>
          <a:xfrm>
            <a:off x="685800" y="29845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6502bf31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79" name="Google Shape;79;g316502bf31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6502bf319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d5c34b7d6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89" name="Google Shape;89;g2d5c34b7d6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5c34b7d69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d5c34b7d69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99" name="Google Shape;99;g2d5c34b7d69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d5c34b7d69_0_12: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d5c34b7d69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06" name="Google Shape;106;g2d5c34b7d69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d5c34b7d69_0_19: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d5c34b7d69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14" name="Google Shape;114;g2d5c34b7d69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5c34b7d69_0_3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5ece4b4b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24" name="Google Shape;124;g315ece4b4b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5ece4b4b7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5ece4b4b7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35" name="Google Shape;135;g315ece4b4b7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15ece4b4b7_0_19: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5ece4b4b7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43" name="Google Shape;143;g315ece4b4b7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5ece4b4b7_0_33: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5ece4b4b7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51" name="Google Shape;151;g315ece4b4b7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5ece4b4b7_0_45: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5b737e13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59" name="Google Shape;159;g2d5b737e13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d5b737e132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d5b737e132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67" name="Google Shape;167;g2d5b737e132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d5b737e132_0_1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5b737e132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76" name="Google Shape;176;g2d5b737e132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d5b737e132_0_17: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6737736d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85" name="Google Shape;185;g316737736d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6737736d7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6737736d7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194" name="Google Shape;194;g316737736d7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6737736d7_0_1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6737736d7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03" name="Google Shape;203;g316737736d7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6737736d7_0_21: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POWERPOINT LAYOUT: </a:t>
            </a:r>
            <a:r>
              <a:rPr b="0" lang="en-US" sz="1100"/>
              <a:t>TWO CONTENT</a:t>
            </a:r>
            <a:endParaRPr/>
          </a:p>
          <a:p>
            <a:pPr indent="0" lvl="0" marL="0" marR="0" rtl="0" algn="l">
              <a:lnSpc>
                <a:spcPct val="100000"/>
              </a:lnSpc>
              <a:spcBef>
                <a:spcPts val="330"/>
              </a:spcBef>
              <a:spcAft>
                <a:spcPts val="0"/>
              </a:spcAft>
              <a:buClr>
                <a:schemeClr val="dk1"/>
              </a:buClr>
              <a:buSzPts val="1100"/>
              <a:buFont typeface="Arial"/>
              <a:buNone/>
            </a:pPr>
            <a:r>
              <a:rPr b="0" lang="en-US" sz="1100"/>
              <a:t>Image size 5.5” wide x 3” tall @ 96 ppi  [528x288 pixels]</a:t>
            </a:r>
            <a:endParaRPr/>
          </a:p>
        </p:txBody>
      </p:sp>
      <p:sp>
        <p:nvSpPr>
          <p:cNvPr id="213" name="Google Shape;213;p1:notes"/>
          <p:cNvSpPr txBox="1"/>
          <p:nvPr>
            <p:ph idx="3" type="hdr"/>
          </p:nvPr>
        </p:nvSpPr>
        <p:spPr>
          <a:xfrm>
            <a:off x="685800" y="298450"/>
            <a:ext cx="38481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CUNY Central  PowerPoint Template 02</a:t>
            </a:r>
            <a:endParaRPr/>
          </a:p>
        </p:txBody>
      </p:sp>
      <p:sp>
        <p:nvSpPr>
          <p:cNvPr id="214" name="Google Shape;214;p1:notes"/>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11/14/2024</a:t>
            </a:r>
            <a:endParaRPr/>
          </a:p>
        </p:txBody>
      </p:sp>
      <p:sp>
        <p:nvSpPr>
          <p:cNvPr id="215" name="Google Shape;215;p1:notes"/>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POWERPOINT LAYOUT: </a:t>
            </a:r>
            <a:r>
              <a:rPr b="0" lang="en-US" sz="1100"/>
              <a:t>TWO CONTENT</a:t>
            </a:r>
            <a:endParaRPr/>
          </a:p>
          <a:p>
            <a:pPr indent="0" lvl="0" marL="0" marR="0" rtl="0" algn="l">
              <a:lnSpc>
                <a:spcPct val="100000"/>
              </a:lnSpc>
              <a:spcBef>
                <a:spcPts val="330"/>
              </a:spcBef>
              <a:spcAft>
                <a:spcPts val="0"/>
              </a:spcAft>
              <a:buClr>
                <a:schemeClr val="dk1"/>
              </a:buClr>
              <a:buSzPts val="1100"/>
              <a:buFont typeface="Arial"/>
              <a:buNone/>
            </a:pPr>
            <a:r>
              <a:rPr b="0" lang="en-US" sz="1100"/>
              <a:t>Image size 5.5” wide x 3” tall @ 96 ppi  [528x288 pixels]</a:t>
            </a:r>
            <a:endParaRPr/>
          </a:p>
        </p:txBody>
      </p:sp>
      <p:sp>
        <p:nvSpPr>
          <p:cNvPr id="223" name="Google Shape;223;p2:notes"/>
          <p:cNvSpPr txBox="1"/>
          <p:nvPr>
            <p:ph idx="3" type="hdr"/>
          </p:nvPr>
        </p:nvSpPr>
        <p:spPr>
          <a:xfrm>
            <a:off x="685800" y="298450"/>
            <a:ext cx="38481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CUNY Central  PowerPoint Template 02</a:t>
            </a:r>
            <a:endParaRPr/>
          </a:p>
        </p:txBody>
      </p:sp>
      <p:sp>
        <p:nvSpPr>
          <p:cNvPr id="224" name="Google Shape;224;p2:notes"/>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11/14/2024</a:t>
            </a:r>
            <a:endParaRPr/>
          </a:p>
        </p:txBody>
      </p:sp>
      <p:sp>
        <p:nvSpPr>
          <p:cNvPr id="225" name="Google Shape;225;p2:notes"/>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POWERPOINT LAYOUT: </a:t>
            </a:r>
            <a:r>
              <a:rPr b="0" lang="en-US" sz="1100"/>
              <a:t>TWO CONTENT</a:t>
            </a:r>
            <a:endParaRPr/>
          </a:p>
          <a:p>
            <a:pPr indent="0" lvl="0" marL="0" marR="0" rtl="0" algn="l">
              <a:lnSpc>
                <a:spcPct val="100000"/>
              </a:lnSpc>
              <a:spcBef>
                <a:spcPts val="330"/>
              </a:spcBef>
              <a:spcAft>
                <a:spcPts val="0"/>
              </a:spcAft>
              <a:buClr>
                <a:schemeClr val="dk1"/>
              </a:buClr>
              <a:buSzPts val="1100"/>
              <a:buFont typeface="Arial"/>
              <a:buNone/>
            </a:pPr>
            <a:r>
              <a:rPr b="0" lang="en-US" sz="1100"/>
              <a:t>Image size 5.5” wide x 3” tall @ 96 ppi  [528x288 pixels]</a:t>
            </a:r>
            <a:endParaRPr/>
          </a:p>
        </p:txBody>
      </p:sp>
      <p:sp>
        <p:nvSpPr>
          <p:cNvPr id="234" name="Google Shape;234;p3:notes"/>
          <p:cNvSpPr txBox="1"/>
          <p:nvPr>
            <p:ph idx="3" type="hdr"/>
          </p:nvPr>
        </p:nvSpPr>
        <p:spPr>
          <a:xfrm>
            <a:off x="685800" y="298450"/>
            <a:ext cx="38481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CUNY Central  PowerPoint Template 02</a:t>
            </a:r>
            <a:endParaRPr/>
          </a:p>
        </p:txBody>
      </p:sp>
      <p:sp>
        <p:nvSpPr>
          <p:cNvPr id="235" name="Google Shape;235;p3:notes"/>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11/14/2024</a:t>
            </a:r>
            <a:endParaRPr/>
          </a:p>
        </p:txBody>
      </p:sp>
      <p:sp>
        <p:nvSpPr>
          <p:cNvPr id="236" name="Google Shape;236;p3:notes"/>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POWERPOINT LAYOUT: </a:t>
            </a:r>
            <a:r>
              <a:rPr b="0" lang="en-US" sz="1100"/>
              <a:t>TWO CONTENT</a:t>
            </a:r>
            <a:endParaRPr/>
          </a:p>
          <a:p>
            <a:pPr indent="0" lvl="0" marL="0" marR="0" rtl="0" algn="l">
              <a:lnSpc>
                <a:spcPct val="100000"/>
              </a:lnSpc>
              <a:spcBef>
                <a:spcPts val="330"/>
              </a:spcBef>
              <a:spcAft>
                <a:spcPts val="0"/>
              </a:spcAft>
              <a:buClr>
                <a:schemeClr val="dk1"/>
              </a:buClr>
              <a:buSzPts val="1100"/>
              <a:buFont typeface="Arial"/>
              <a:buNone/>
            </a:pPr>
            <a:r>
              <a:rPr b="0" lang="en-US" sz="1100"/>
              <a:t>Image size 5.5” wide x 3” tall @ 96 ppi  [528x288 pixels]</a:t>
            </a:r>
            <a:endParaRPr/>
          </a:p>
        </p:txBody>
      </p:sp>
      <p:sp>
        <p:nvSpPr>
          <p:cNvPr id="245" name="Google Shape;245;p4:notes"/>
          <p:cNvSpPr txBox="1"/>
          <p:nvPr>
            <p:ph idx="3" type="hdr"/>
          </p:nvPr>
        </p:nvSpPr>
        <p:spPr>
          <a:xfrm>
            <a:off x="685800" y="298450"/>
            <a:ext cx="38481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CUNY Central  PowerPoint Template 02</a:t>
            </a:r>
            <a:endParaRPr/>
          </a:p>
        </p:txBody>
      </p:sp>
      <p:sp>
        <p:nvSpPr>
          <p:cNvPr id="246" name="Google Shape;246;p4:notes"/>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11/14/2024</a:t>
            </a:r>
            <a:endParaRPr/>
          </a:p>
        </p:txBody>
      </p:sp>
      <p:sp>
        <p:nvSpPr>
          <p:cNvPr id="247" name="Google Shape;247;p4:notes"/>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POWERPOINT LAYOUT: </a:t>
            </a:r>
            <a:r>
              <a:rPr b="0" lang="en-US" sz="1100"/>
              <a:t>TWO CONTENT</a:t>
            </a:r>
            <a:endParaRPr/>
          </a:p>
          <a:p>
            <a:pPr indent="0" lvl="0" marL="0" marR="0" rtl="0" algn="l">
              <a:lnSpc>
                <a:spcPct val="100000"/>
              </a:lnSpc>
              <a:spcBef>
                <a:spcPts val="330"/>
              </a:spcBef>
              <a:spcAft>
                <a:spcPts val="0"/>
              </a:spcAft>
              <a:buClr>
                <a:schemeClr val="dk1"/>
              </a:buClr>
              <a:buSzPts val="1100"/>
              <a:buFont typeface="Arial"/>
              <a:buNone/>
            </a:pPr>
            <a:r>
              <a:rPr b="0" lang="en-US" sz="1100"/>
              <a:t>Image size 5.5” wide x 3” tall @ 96 ppi  [528x288 pixels]</a:t>
            </a:r>
            <a:endParaRPr/>
          </a:p>
        </p:txBody>
      </p:sp>
      <p:sp>
        <p:nvSpPr>
          <p:cNvPr id="256" name="Google Shape;256;p5:notes"/>
          <p:cNvSpPr txBox="1"/>
          <p:nvPr>
            <p:ph idx="3" type="hdr"/>
          </p:nvPr>
        </p:nvSpPr>
        <p:spPr>
          <a:xfrm>
            <a:off x="685800" y="298450"/>
            <a:ext cx="38481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CUNY Central  PowerPoint Template 02</a:t>
            </a:r>
            <a:endParaRPr/>
          </a:p>
        </p:txBody>
      </p:sp>
      <p:sp>
        <p:nvSpPr>
          <p:cNvPr id="257" name="Google Shape;257;p5:notes"/>
          <p:cNvSpPr txBox="1"/>
          <p:nvPr>
            <p:ph idx="10" type="dt"/>
          </p:nvPr>
        </p:nvSpPr>
        <p:spPr>
          <a:xfrm>
            <a:off x="4533900" y="298450"/>
            <a:ext cx="16383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11/14/2024</a:t>
            </a:r>
            <a:endParaRPr/>
          </a:p>
        </p:txBody>
      </p:sp>
      <p:sp>
        <p:nvSpPr>
          <p:cNvPr id="258" name="Google Shape;258;p5:notes"/>
          <p:cNvSpPr txBox="1"/>
          <p:nvPr>
            <p:ph idx="12" type="sldNum"/>
          </p:nvPr>
        </p:nvSpPr>
        <p:spPr>
          <a:xfrm>
            <a:off x="3200400" y="83296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5acf1104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66" name="Google Shape;266;g2d5acf110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d5acf11040_0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5f5663ef9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73" name="Google Shape;273;g315f5663ef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15f5663ef9_0_1: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15f5663ef9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81" name="Google Shape;281;g315f5663ef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15f5663ef9_0_13: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d5acf11040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89" name="Google Shape;289;g2d5acf11040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d5acf11040_0_47: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16a2bec62a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297" name="Google Shape;297;g316a2bec62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16a2bec62a_2_0: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5acf11040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306" name="Google Shape;306;g2d5acf1104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5acf11040_0_7:notes"/>
          <p:cNvSpPr txBox="1"/>
          <p:nvPr>
            <p:ph idx="12" type="sldNum"/>
          </p:nvPr>
        </p:nvSpPr>
        <p:spPr>
          <a:xfrm>
            <a:off x="3200400" y="83296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4" name="Shape 14"/>
        <p:cNvGrpSpPr/>
        <p:nvPr/>
      </p:nvGrpSpPr>
      <p:grpSpPr>
        <a:xfrm>
          <a:off x="0" y="0"/>
          <a:ext cx="0" cy="0"/>
          <a:chOff x="0" y="0"/>
          <a:chExt cx="0" cy="0"/>
        </a:xfrm>
      </p:grpSpPr>
      <p:sp>
        <p:nvSpPr>
          <p:cNvPr id="15" name="Google Shape;15;p7"/>
          <p:cNvSpPr/>
          <p:nvPr/>
        </p:nvSpPr>
        <p:spPr>
          <a:xfrm>
            <a:off x="0" y="17463"/>
            <a:ext cx="12192000" cy="1825625"/>
          </a:xfrm>
          <a:prstGeom prst="rect">
            <a:avLst/>
          </a:prstGeom>
          <a:solidFill>
            <a:srgbClr val="1C3A8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7"/>
          <p:cNvSpPr txBox="1"/>
          <p:nvPr>
            <p:ph idx="1" type="body"/>
          </p:nvPr>
        </p:nvSpPr>
        <p:spPr>
          <a:xfrm>
            <a:off x="838200" y="2007163"/>
            <a:ext cx="5181600" cy="4114800"/>
          </a:xfrm>
          <a:prstGeom prst="rect">
            <a:avLst/>
          </a:prstGeom>
          <a:noFill/>
          <a:ln>
            <a:noFill/>
          </a:ln>
        </p:spPr>
        <p:txBody>
          <a:bodyPr anchorCtr="0" anchor="t" bIns="45700" lIns="91425" spcFirstLastPara="1" rIns="91425" wrap="square" tIns="45700">
            <a:noAutofit/>
          </a:bodyPr>
          <a:lstStyle>
            <a:lvl1pPr indent="-393700" lvl="0" marL="457200" algn="l">
              <a:lnSpc>
                <a:spcPct val="90000"/>
              </a:lnSpc>
              <a:spcBef>
                <a:spcPts val="1000"/>
              </a:spcBef>
              <a:spcAft>
                <a:spcPts val="0"/>
              </a:spcAft>
              <a:buClr>
                <a:schemeClr val="dk1"/>
              </a:buClr>
              <a:buSzPts val="2600"/>
              <a:buChar char="•"/>
              <a:defRPr b="0" i="0" sz="2600">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b="0" i="0" sz="2400">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Char char="•"/>
              <a:defRPr b="0" i="0" sz="2400">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Char char="•"/>
              <a:defRPr b="0" i="0" sz="2400">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Char char="•"/>
              <a:defRPr b="0" i="0" sz="2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7"/>
          <p:cNvSpPr txBox="1"/>
          <p:nvPr>
            <p:ph idx="2" type="body"/>
          </p:nvPr>
        </p:nvSpPr>
        <p:spPr>
          <a:xfrm>
            <a:off x="6172200" y="2007163"/>
            <a:ext cx="5257800" cy="4114800"/>
          </a:xfrm>
          <a:prstGeom prst="rect">
            <a:avLst/>
          </a:prstGeom>
          <a:noFill/>
          <a:ln>
            <a:noFill/>
          </a:ln>
        </p:spPr>
        <p:txBody>
          <a:bodyPr anchorCtr="0" anchor="t" bIns="45700" lIns="91425" spcFirstLastPara="1" rIns="91425" wrap="square" tIns="45700">
            <a:noAutofit/>
          </a:bodyPr>
          <a:lstStyle>
            <a:lvl1pPr indent="-393700" lvl="0" marL="457200" algn="l">
              <a:lnSpc>
                <a:spcPct val="90000"/>
              </a:lnSpc>
              <a:spcBef>
                <a:spcPts val="1000"/>
              </a:spcBef>
              <a:spcAft>
                <a:spcPts val="0"/>
              </a:spcAft>
              <a:buClr>
                <a:schemeClr val="dk1"/>
              </a:buClr>
              <a:buSzPts val="2600"/>
              <a:buChar char="•"/>
              <a:defRPr b="0" i="0" sz="2600">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b="0" i="0" sz="2400">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Char char="•"/>
              <a:defRPr b="0" i="0" sz="2400">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Char char="•"/>
              <a:defRPr b="0" i="0" sz="2400">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Char char="•"/>
              <a:defRPr b="0" i="0" sz="2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7"/>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FFC000"/>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9" name="Google Shape;19;p7"/>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type="title">
  <p:cSld name="TITLE">
    <p:spTree>
      <p:nvGrpSpPr>
        <p:cNvPr id="20" name="Shape 20"/>
        <p:cNvGrpSpPr/>
        <p:nvPr/>
      </p:nvGrpSpPr>
      <p:grpSpPr>
        <a:xfrm>
          <a:off x="0" y="0"/>
          <a:ext cx="0" cy="0"/>
          <a:chOff x="0" y="0"/>
          <a:chExt cx="0" cy="0"/>
        </a:xfrm>
      </p:grpSpPr>
      <p:sp>
        <p:nvSpPr>
          <p:cNvPr id="21" name="Google Shape;21;p8"/>
          <p:cNvSpPr/>
          <p:nvPr/>
        </p:nvSpPr>
        <p:spPr>
          <a:xfrm>
            <a:off x="0" y="1385888"/>
            <a:ext cx="12198350" cy="18288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2" name="Google Shape;22;p8"/>
          <p:cNvPicPr preferRelativeResize="0"/>
          <p:nvPr/>
        </p:nvPicPr>
        <p:blipFill rotWithShape="1">
          <a:blip r:embed="rId2">
            <a:alphaModFix/>
          </a:blip>
          <a:srcRect b="0" l="0" r="0" t="0"/>
          <a:stretch/>
        </p:blipFill>
        <p:spPr>
          <a:xfrm>
            <a:off x="10947400" y="6167438"/>
            <a:ext cx="1041400" cy="490537"/>
          </a:xfrm>
          <a:prstGeom prst="rect">
            <a:avLst/>
          </a:prstGeom>
          <a:noFill/>
          <a:ln>
            <a:noFill/>
          </a:ln>
        </p:spPr>
      </p:pic>
      <p:sp>
        <p:nvSpPr>
          <p:cNvPr id="23" name="Google Shape;23;p8"/>
          <p:cNvSpPr txBox="1"/>
          <p:nvPr>
            <p:ph type="ctrTitle"/>
          </p:nvPr>
        </p:nvSpPr>
        <p:spPr>
          <a:xfrm>
            <a:off x="876300" y="1375317"/>
            <a:ext cx="11801764" cy="1034405"/>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1C3A83"/>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8"/>
          <p:cNvSpPr txBox="1"/>
          <p:nvPr>
            <p:ph idx="1" type="subTitle"/>
          </p:nvPr>
        </p:nvSpPr>
        <p:spPr>
          <a:xfrm>
            <a:off x="876300" y="2412546"/>
            <a:ext cx="9144000" cy="442515"/>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2500"/>
              <a:buNone/>
              <a:defRPr b="0" i="0" sz="25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8"/>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showMasterSp="0">
  <p:cSld name="3_Title Slide">
    <p:spTree>
      <p:nvGrpSpPr>
        <p:cNvPr id="26" name="Shape 26"/>
        <p:cNvGrpSpPr/>
        <p:nvPr/>
      </p:nvGrpSpPr>
      <p:grpSpPr>
        <a:xfrm>
          <a:off x="0" y="0"/>
          <a:ext cx="0" cy="0"/>
          <a:chOff x="0" y="0"/>
          <a:chExt cx="0" cy="0"/>
        </a:xfrm>
      </p:grpSpPr>
      <p:sp>
        <p:nvSpPr>
          <p:cNvPr id="27" name="Google Shape;27;p9"/>
          <p:cNvSpPr/>
          <p:nvPr/>
        </p:nvSpPr>
        <p:spPr>
          <a:xfrm>
            <a:off x="0" y="0"/>
            <a:ext cx="12198350" cy="6858000"/>
          </a:xfrm>
          <a:prstGeom prst="rect">
            <a:avLst/>
          </a:prstGeom>
          <a:solidFill>
            <a:srgbClr val="1B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 name="Google Shape;28;p9"/>
          <p:cNvSpPr/>
          <p:nvPr/>
        </p:nvSpPr>
        <p:spPr>
          <a:xfrm>
            <a:off x="0" y="1385888"/>
            <a:ext cx="12198350" cy="18288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9" name="Google Shape;29;p9"/>
          <p:cNvPicPr preferRelativeResize="0"/>
          <p:nvPr/>
        </p:nvPicPr>
        <p:blipFill rotWithShape="1">
          <a:blip r:embed="rId2">
            <a:alphaModFix/>
          </a:blip>
          <a:srcRect b="0" l="0" r="0" t="0"/>
          <a:stretch/>
        </p:blipFill>
        <p:spPr>
          <a:xfrm>
            <a:off x="10947400" y="6167438"/>
            <a:ext cx="1042988" cy="490537"/>
          </a:xfrm>
          <a:prstGeom prst="rect">
            <a:avLst/>
          </a:prstGeom>
          <a:noFill/>
          <a:ln>
            <a:noFill/>
          </a:ln>
        </p:spPr>
      </p:pic>
      <p:sp>
        <p:nvSpPr>
          <p:cNvPr id="30" name="Google Shape;30;p9"/>
          <p:cNvSpPr txBox="1"/>
          <p:nvPr>
            <p:ph type="ctrTitle"/>
          </p:nvPr>
        </p:nvSpPr>
        <p:spPr>
          <a:xfrm>
            <a:off x="876300" y="1375317"/>
            <a:ext cx="11801764" cy="1034405"/>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1C3A83"/>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1" name="Google Shape;31;p9"/>
          <p:cNvSpPr txBox="1"/>
          <p:nvPr>
            <p:ph idx="1" type="subTitle"/>
          </p:nvPr>
        </p:nvSpPr>
        <p:spPr>
          <a:xfrm>
            <a:off x="876300" y="2412546"/>
            <a:ext cx="9144000" cy="442515"/>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2500"/>
              <a:buNone/>
              <a:defRPr b="0" i="0" sz="25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9"/>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33" name="Shape 33"/>
        <p:cNvGrpSpPr/>
        <p:nvPr/>
      </p:nvGrpSpPr>
      <p:grpSpPr>
        <a:xfrm>
          <a:off x="0" y="0"/>
          <a:ext cx="0" cy="0"/>
          <a:chOff x="0" y="0"/>
          <a:chExt cx="0" cy="0"/>
        </a:xfrm>
      </p:grpSpPr>
      <p:sp>
        <p:nvSpPr>
          <p:cNvPr id="34" name="Google Shape;34;p10"/>
          <p:cNvSpPr/>
          <p:nvPr/>
        </p:nvSpPr>
        <p:spPr>
          <a:xfrm>
            <a:off x="0" y="4335463"/>
            <a:ext cx="12192000" cy="1604962"/>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5" name="Google Shape;35;p10"/>
          <p:cNvPicPr preferRelativeResize="0"/>
          <p:nvPr/>
        </p:nvPicPr>
        <p:blipFill rotWithShape="1">
          <a:blip r:embed="rId2">
            <a:alphaModFix/>
          </a:blip>
          <a:srcRect b="0" l="0" r="0" t="0"/>
          <a:stretch/>
        </p:blipFill>
        <p:spPr>
          <a:xfrm>
            <a:off x="10947400" y="6167438"/>
            <a:ext cx="1041400" cy="490537"/>
          </a:xfrm>
          <a:prstGeom prst="rect">
            <a:avLst/>
          </a:prstGeom>
          <a:noFill/>
          <a:ln>
            <a:noFill/>
          </a:ln>
        </p:spPr>
      </p:pic>
      <p:sp>
        <p:nvSpPr>
          <p:cNvPr id="36" name="Google Shape;36;p10"/>
          <p:cNvSpPr txBox="1"/>
          <p:nvPr>
            <p:ph type="title"/>
          </p:nvPr>
        </p:nvSpPr>
        <p:spPr>
          <a:xfrm>
            <a:off x="879475" y="4627710"/>
            <a:ext cx="10515600" cy="116983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chemeClr val="lt1"/>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7" name="Google Shape;37;p10"/>
          <p:cNvSpPr txBox="1"/>
          <p:nvPr>
            <p:ph idx="1" type="body"/>
          </p:nvPr>
        </p:nvSpPr>
        <p:spPr>
          <a:xfrm>
            <a:off x="879475" y="5324303"/>
            <a:ext cx="10515600" cy="61558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FFC000"/>
              </a:buClr>
              <a:buSzPts val="2500"/>
              <a:buNone/>
              <a:defRPr b="0" i="0" sz="2500">
                <a:solidFill>
                  <a:srgbClr val="FFC000"/>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10"/>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type="secHead">
  <p:cSld name="SECTION_HEADER">
    <p:spTree>
      <p:nvGrpSpPr>
        <p:cNvPr id="39" name="Shape 39"/>
        <p:cNvGrpSpPr/>
        <p:nvPr/>
      </p:nvGrpSpPr>
      <p:grpSpPr>
        <a:xfrm>
          <a:off x="0" y="0"/>
          <a:ext cx="0" cy="0"/>
          <a:chOff x="0" y="0"/>
          <a:chExt cx="0" cy="0"/>
        </a:xfrm>
      </p:grpSpPr>
      <p:sp>
        <p:nvSpPr>
          <p:cNvPr id="40" name="Google Shape;40;p11"/>
          <p:cNvSpPr/>
          <p:nvPr/>
        </p:nvSpPr>
        <p:spPr>
          <a:xfrm>
            <a:off x="0" y="4338638"/>
            <a:ext cx="12192000" cy="1601787"/>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1" name="Google Shape;41;p11"/>
          <p:cNvPicPr preferRelativeResize="0"/>
          <p:nvPr/>
        </p:nvPicPr>
        <p:blipFill rotWithShape="1">
          <a:blip r:embed="rId2">
            <a:alphaModFix/>
          </a:blip>
          <a:srcRect b="0" l="0" r="0" t="0"/>
          <a:stretch/>
        </p:blipFill>
        <p:spPr>
          <a:xfrm>
            <a:off x="10947400" y="6167438"/>
            <a:ext cx="1041400" cy="490537"/>
          </a:xfrm>
          <a:prstGeom prst="rect">
            <a:avLst/>
          </a:prstGeom>
          <a:noFill/>
          <a:ln>
            <a:noFill/>
          </a:ln>
        </p:spPr>
      </p:pic>
      <p:sp>
        <p:nvSpPr>
          <p:cNvPr id="42" name="Google Shape;42;p11"/>
          <p:cNvSpPr txBox="1"/>
          <p:nvPr>
            <p:ph type="title"/>
          </p:nvPr>
        </p:nvSpPr>
        <p:spPr>
          <a:xfrm>
            <a:off x="831850" y="4605145"/>
            <a:ext cx="10515600" cy="692171"/>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1C3A84"/>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3" name="Google Shape;43;p11"/>
          <p:cNvSpPr txBox="1"/>
          <p:nvPr>
            <p:ph idx="1" type="body"/>
          </p:nvPr>
        </p:nvSpPr>
        <p:spPr>
          <a:xfrm>
            <a:off x="831850" y="5297316"/>
            <a:ext cx="10515600" cy="64256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i="0" sz="25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11"/>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5" name="Shape 45"/>
        <p:cNvGrpSpPr/>
        <p:nvPr/>
      </p:nvGrpSpPr>
      <p:grpSpPr>
        <a:xfrm>
          <a:off x="0" y="0"/>
          <a:ext cx="0" cy="0"/>
          <a:chOff x="0" y="0"/>
          <a:chExt cx="0" cy="0"/>
        </a:xfrm>
      </p:grpSpPr>
      <p:sp>
        <p:nvSpPr>
          <p:cNvPr id="46" name="Google Shape;46;p12"/>
          <p:cNvSpPr/>
          <p:nvPr/>
        </p:nvSpPr>
        <p:spPr>
          <a:xfrm>
            <a:off x="0" y="17463"/>
            <a:ext cx="12192000" cy="1825625"/>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 name="Google Shape;47;p12"/>
          <p:cNvSpPr txBox="1"/>
          <p:nvPr>
            <p:ph idx="1" type="body"/>
          </p:nvPr>
        </p:nvSpPr>
        <p:spPr>
          <a:xfrm>
            <a:off x="838200" y="2142675"/>
            <a:ext cx="10515600" cy="4121150"/>
          </a:xfrm>
          <a:prstGeom prst="rect">
            <a:avLst/>
          </a:prstGeom>
          <a:noFill/>
          <a:ln>
            <a:noFill/>
          </a:ln>
        </p:spPr>
        <p:txBody>
          <a:bodyPr anchorCtr="0" anchor="ctr"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b="0" i="0" sz="3200">
                <a:latin typeface="Arial"/>
                <a:ea typeface="Arial"/>
                <a:cs typeface="Arial"/>
                <a:sym typeface="Arial"/>
              </a:defRPr>
            </a:lvl1pPr>
            <a:lvl2pPr indent="-431800" lvl="1" marL="914400" algn="l">
              <a:lnSpc>
                <a:spcPct val="90000"/>
              </a:lnSpc>
              <a:spcBef>
                <a:spcPts val="500"/>
              </a:spcBef>
              <a:spcAft>
                <a:spcPts val="0"/>
              </a:spcAft>
              <a:buClr>
                <a:schemeClr val="dk1"/>
              </a:buClr>
              <a:buSzPts val="3200"/>
              <a:buChar char="•"/>
              <a:defRPr b="0" i="0" sz="3200">
                <a:latin typeface="Arial"/>
                <a:ea typeface="Arial"/>
                <a:cs typeface="Arial"/>
                <a:sym typeface="Arial"/>
              </a:defRPr>
            </a:lvl2pPr>
            <a:lvl3pPr indent="-431800" lvl="2" marL="1371600" algn="l">
              <a:lnSpc>
                <a:spcPct val="90000"/>
              </a:lnSpc>
              <a:spcBef>
                <a:spcPts val="500"/>
              </a:spcBef>
              <a:spcAft>
                <a:spcPts val="0"/>
              </a:spcAft>
              <a:buClr>
                <a:schemeClr val="dk1"/>
              </a:buClr>
              <a:buSzPts val="3200"/>
              <a:buChar char="•"/>
              <a:defRPr b="0" i="0" sz="3200">
                <a:latin typeface="Arial"/>
                <a:ea typeface="Arial"/>
                <a:cs typeface="Arial"/>
                <a:sym typeface="Arial"/>
              </a:defRPr>
            </a:lvl3pPr>
            <a:lvl4pPr indent="-431800" lvl="3" marL="1828800" algn="l">
              <a:lnSpc>
                <a:spcPct val="90000"/>
              </a:lnSpc>
              <a:spcBef>
                <a:spcPts val="500"/>
              </a:spcBef>
              <a:spcAft>
                <a:spcPts val="0"/>
              </a:spcAft>
              <a:buClr>
                <a:schemeClr val="dk1"/>
              </a:buClr>
              <a:buSzPts val="3200"/>
              <a:buChar char="•"/>
              <a:defRPr b="0" i="0" sz="3200">
                <a:latin typeface="Arial"/>
                <a:ea typeface="Arial"/>
                <a:cs typeface="Arial"/>
                <a:sym typeface="Arial"/>
              </a:defRPr>
            </a:lvl4pPr>
            <a:lvl5pPr indent="-431800" lvl="4" marL="2286000" algn="l">
              <a:lnSpc>
                <a:spcPct val="90000"/>
              </a:lnSpc>
              <a:spcBef>
                <a:spcPts val="500"/>
              </a:spcBef>
              <a:spcAft>
                <a:spcPts val="0"/>
              </a:spcAft>
              <a:buClr>
                <a:schemeClr val="dk1"/>
              </a:buClr>
              <a:buSzPts val="3200"/>
              <a:buChar char="•"/>
              <a:defRPr b="0" i="0" sz="32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2"/>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FFC000"/>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9" name="Google Shape;49;p12"/>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p13"/>
          <p:cNvSpPr/>
          <p:nvPr/>
        </p:nvSpPr>
        <p:spPr>
          <a:xfrm>
            <a:off x="0" y="17463"/>
            <a:ext cx="12192000" cy="1825625"/>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 name="Google Shape;52;p13"/>
          <p:cNvSpPr txBox="1"/>
          <p:nvPr>
            <p:ph idx="1" type="body"/>
          </p:nvPr>
        </p:nvSpPr>
        <p:spPr>
          <a:xfrm>
            <a:off x="839788" y="1896321"/>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600"/>
              <a:buNone/>
              <a:defRPr b="1" i="0" sz="26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13"/>
          <p:cNvSpPr txBox="1"/>
          <p:nvPr>
            <p:ph idx="2" type="body"/>
          </p:nvPr>
        </p:nvSpPr>
        <p:spPr>
          <a:xfrm>
            <a:off x="839788" y="2859133"/>
            <a:ext cx="5157787" cy="3310173"/>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1000"/>
              </a:spcBef>
              <a:spcAft>
                <a:spcPts val="0"/>
              </a:spcAft>
              <a:buClr>
                <a:schemeClr val="dk1"/>
              </a:buClr>
              <a:buSzPts val="2400"/>
              <a:buChar char="•"/>
              <a:defRPr sz="2400"/>
            </a:lvl1pPr>
            <a:lvl2pPr indent="-381000" lvl="1" marL="914400" algn="l">
              <a:lnSpc>
                <a:spcPct val="90000"/>
              </a:lnSpc>
              <a:spcBef>
                <a:spcPts val="500"/>
              </a:spcBef>
              <a:spcAft>
                <a:spcPts val="0"/>
              </a:spcAft>
              <a:buClr>
                <a:schemeClr val="dk1"/>
              </a:buClr>
              <a:buSzPts val="2400"/>
              <a:buChar char="•"/>
              <a:defRPr sz="2400"/>
            </a:lvl2pPr>
            <a:lvl3pPr indent="-381000" lvl="2" marL="1371600" algn="l">
              <a:lnSpc>
                <a:spcPct val="90000"/>
              </a:lnSpc>
              <a:spcBef>
                <a:spcPts val="500"/>
              </a:spcBef>
              <a:spcAft>
                <a:spcPts val="0"/>
              </a:spcAft>
              <a:buClr>
                <a:schemeClr val="dk1"/>
              </a:buClr>
              <a:buSzPts val="2400"/>
              <a:buChar char="•"/>
              <a:defRPr sz="24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3"/>
          <p:cNvSpPr txBox="1"/>
          <p:nvPr>
            <p:ph idx="3" type="body"/>
          </p:nvPr>
        </p:nvSpPr>
        <p:spPr>
          <a:xfrm>
            <a:off x="6172200" y="1896321"/>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600"/>
              <a:buNone/>
              <a:defRPr b="1" i="0" sz="26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13"/>
          <p:cNvSpPr txBox="1"/>
          <p:nvPr>
            <p:ph idx="4" type="body"/>
          </p:nvPr>
        </p:nvSpPr>
        <p:spPr>
          <a:xfrm>
            <a:off x="6172200" y="2859133"/>
            <a:ext cx="5183188" cy="3310173"/>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1000"/>
              </a:spcBef>
              <a:spcAft>
                <a:spcPts val="0"/>
              </a:spcAft>
              <a:buClr>
                <a:schemeClr val="dk1"/>
              </a:buClr>
              <a:buSzPts val="2400"/>
              <a:buChar char="•"/>
              <a:defRPr sz="2400"/>
            </a:lvl1pPr>
            <a:lvl2pPr indent="-381000" lvl="1" marL="914400" algn="l">
              <a:lnSpc>
                <a:spcPct val="90000"/>
              </a:lnSpc>
              <a:spcBef>
                <a:spcPts val="500"/>
              </a:spcBef>
              <a:spcAft>
                <a:spcPts val="0"/>
              </a:spcAft>
              <a:buClr>
                <a:schemeClr val="dk1"/>
              </a:buClr>
              <a:buSzPts val="2400"/>
              <a:buChar char="•"/>
              <a:defRPr sz="2400"/>
            </a:lvl2pPr>
            <a:lvl3pPr indent="-381000" lvl="2" marL="1371600" algn="l">
              <a:lnSpc>
                <a:spcPct val="90000"/>
              </a:lnSpc>
              <a:spcBef>
                <a:spcPts val="500"/>
              </a:spcBef>
              <a:spcAft>
                <a:spcPts val="0"/>
              </a:spcAft>
              <a:buClr>
                <a:schemeClr val="dk1"/>
              </a:buClr>
              <a:buSzPts val="2400"/>
              <a:buChar char="•"/>
              <a:defRPr sz="24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3"/>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FFC000"/>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7" name="Google Shape;57;p13"/>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58" name="Shape 58"/>
        <p:cNvGrpSpPr/>
        <p:nvPr/>
      </p:nvGrpSpPr>
      <p:grpSpPr>
        <a:xfrm>
          <a:off x="0" y="0"/>
          <a:ext cx="0" cy="0"/>
          <a:chOff x="0" y="0"/>
          <a:chExt cx="0" cy="0"/>
        </a:xfrm>
      </p:grpSpPr>
      <p:sp>
        <p:nvSpPr>
          <p:cNvPr id="59" name="Google Shape;59;p14"/>
          <p:cNvSpPr/>
          <p:nvPr/>
        </p:nvSpPr>
        <p:spPr>
          <a:xfrm>
            <a:off x="0" y="0"/>
            <a:ext cx="12192000" cy="1843088"/>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 name="Google Shape;60;p14"/>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rgbClr val="1C3A84"/>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61" name="Google Shape;61;p14"/>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2" name="Shape 62"/>
        <p:cNvGrpSpPr/>
        <p:nvPr/>
      </p:nvGrpSpPr>
      <p:grpSpPr>
        <a:xfrm>
          <a:off x="0" y="0"/>
          <a:ext cx="0" cy="0"/>
          <a:chOff x="0" y="0"/>
          <a:chExt cx="0" cy="0"/>
        </a:xfrm>
      </p:grpSpPr>
      <p:sp>
        <p:nvSpPr>
          <p:cNvPr id="63" name="Google Shape;63;p15"/>
          <p:cNvSpPr/>
          <p:nvPr/>
        </p:nvSpPr>
        <p:spPr>
          <a:xfrm>
            <a:off x="-1" y="0"/>
            <a:ext cx="5022851" cy="6858000"/>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64" name="Google Shape;64;p15"/>
          <p:cNvPicPr preferRelativeResize="0"/>
          <p:nvPr/>
        </p:nvPicPr>
        <p:blipFill rotWithShape="1">
          <a:blip r:embed="rId2">
            <a:alphaModFix/>
          </a:blip>
          <a:srcRect b="0" l="0" r="0" t="0"/>
          <a:stretch/>
        </p:blipFill>
        <p:spPr>
          <a:xfrm>
            <a:off x="10947400" y="6167438"/>
            <a:ext cx="1041400" cy="490537"/>
          </a:xfrm>
          <a:prstGeom prst="rect">
            <a:avLst/>
          </a:prstGeom>
          <a:noFill/>
          <a:ln>
            <a:noFill/>
          </a:ln>
        </p:spPr>
      </p:pic>
      <p:sp>
        <p:nvSpPr>
          <p:cNvPr id="65" name="Google Shape;65;p15"/>
          <p:cNvSpPr txBox="1"/>
          <p:nvPr>
            <p:ph type="title"/>
          </p:nvPr>
        </p:nvSpPr>
        <p:spPr>
          <a:xfrm>
            <a:off x="839788" y="680524"/>
            <a:ext cx="3932237" cy="106838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3400" u="none" cap="none" strike="noStrike">
                <a:solidFill>
                  <a:schemeClr val="lt1"/>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66" name="Google Shape;66;p15"/>
          <p:cNvSpPr txBox="1"/>
          <p:nvPr>
            <p:ph idx="1" type="body"/>
          </p:nvPr>
        </p:nvSpPr>
        <p:spPr>
          <a:xfrm>
            <a:off x="5183188" y="1018572"/>
            <a:ext cx="6172200" cy="4729190"/>
          </a:xfrm>
          <a:prstGeom prst="rect">
            <a:avLst/>
          </a:prstGeom>
          <a:noFill/>
          <a:ln>
            <a:noFill/>
          </a:ln>
        </p:spPr>
        <p:txBody>
          <a:bodyPr anchorCtr="0" anchor="ctr"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b="0" i="0" sz="2800">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Char char="•"/>
              <a:defRPr b="0" i="0" sz="2800">
                <a:latin typeface="Arial"/>
                <a:ea typeface="Arial"/>
                <a:cs typeface="Arial"/>
                <a:sym typeface="Arial"/>
              </a:defRPr>
            </a:lvl2pPr>
            <a:lvl3pPr indent="-406400" lvl="2" marL="1371600" algn="l">
              <a:lnSpc>
                <a:spcPct val="90000"/>
              </a:lnSpc>
              <a:spcBef>
                <a:spcPts val="500"/>
              </a:spcBef>
              <a:spcAft>
                <a:spcPts val="0"/>
              </a:spcAft>
              <a:buClr>
                <a:schemeClr val="dk1"/>
              </a:buClr>
              <a:buSzPts val="2800"/>
              <a:buChar char="•"/>
              <a:defRPr b="0" i="0" sz="2800">
                <a:latin typeface="Arial"/>
                <a:ea typeface="Arial"/>
                <a:cs typeface="Arial"/>
                <a:sym typeface="Arial"/>
              </a:defRPr>
            </a:lvl3pPr>
            <a:lvl4pPr indent="-406400" lvl="3" marL="1828800" algn="l">
              <a:lnSpc>
                <a:spcPct val="90000"/>
              </a:lnSpc>
              <a:spcBef>
                <a:spcPts val="500"/>
              </a:spcBef>
              <a:spcAft>
                <a:spcPts val="0"/>
              </a:spcAft>
              <a:buClr>
                <a:schemeClr val="dk1"/>
              </a:buClr>
              <a:buSzPts val="2800"/>
              <a:buChar char="•"/>
              <a:defRPr b="0" i="0" sz="2800">
                <a:latin typeface="Arial"/>
                <a:ea typeface="Arial"/>
                <a:cs typeface="Arial"/>
                <a:sym typeface="Arial"/>
              </a:defRPr>
            </a:lvl4pPr>
            <a:lvl5pPr indent="-406400" lvl="4" marL="2286000" algn="l">
              <a:lnSpc>
                <a:spcPct val="90000"/>
              </a:lnSpc>
              <a:spcBef>
                <a:spcPts val="500"/>
              </a:spcBef>
              <a:spcAft>
                <a:spcPts val="0"/>
              </a:spcAft>
              <a:buClr>
                <a:schemeClr val="dk1"/>
              </a:buClr>
              <a:buSzPts val="2800"/>
              <a:buChar char="•"/>
              <a:defRPr b="0" i="0" sz="2800">
                <a:latin typeface="Arial"/>
                <a:ea typeface="Arial"/>
                <a:cs typeface="Arial"/>
                <a:sym typeface="Aria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15"/>
          <p:cNvSpPr txBox="1"/>
          <p:nvPr>
            <p:ph idx="2" type="body"/>
          </p:nvPr>
        </p:nvSpPr>
        <p:spPr>
          <a:xfrm>
            <a:off x="839788" y="2442258"/>
            <a:ext cx="3932237" cy="342673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rgbClr val="FFC000"/>
              </a:buClr>
              <a:buSzPts val="2400"/>
              <a:buNone/>
              <a:defRPr sz="2400">
                <a:solidFill>
                  <a:srgbClr val="FFC000"/>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15"/>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Image Right" showMasterSp="0">
  <p:cSld name="Content with Image Right">
    <p:spTree>
      <p:nvGrpSpPr>
        <p:cNvPr id="69" name="Shape 69"/>
        <p:cNvGrpSpPr/>
        <p:nvPr/>
      </p:nvGrpSpPr>
      <p:grpSpPr>
        <a:xfrm>
          <a:off x="0" y="0"/>
          <a:ext cx="0" cy="0"/>
          <a:chOff x="0" y="0"/>
          <a:chExt cx="0" cy="0"/>
        </a:xfrm>
      </p:grpSpPr>
      <p:sp>
        <p:nvSpPr>
          <p:cNvPr id="70" name="Google Shape;70;p16"/>
          <p:cNvSpPr/>
          <p:nvPr/>
        </p:nvSpPr>
        <p:spPr>
          <a:xfrm>
            <a:off x="-1" y="0"/>
            <a:ext cx="5336375" cy="6858000"/>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71" name="Google Shape;71;p16"/>
          <p:cNvPicPr preferRelativeResize="0"/>
          <p:nvPr/>
        </p:nvPicPr>
        <p:blipFill rotWithShape="1">
          <a:blip r:embed="rId2">
            <a:alphaModFix/>
          </a:blip>
          <a:srcRect b="0" l="0" r="0" t="0"/>
          <a:stretch/>
        </p:blipFill>
        <p:spPr>
          <a:xfrm>
            <a:off x="10947400" y="6167438"/>
            <a:ext cx="1041400" cy="490537"/>
          </a:xfrm>
          <a:prstGeom prst="rect">
            <a:avLst/>
          </a:prstGeom>
          <a:noFill/>
          <a:ln>
            <a:noFill/>
          </a:ln>
        </p:spPr>
      </p:pic>
      <p:sp>
        <p:nvSpPr>
          <p:cNvPr id="72" name="Google Shape;72;p16"/>
          <p:cNvSpPr txBox="1"/>
          <p:nvPr>
            <p:ph type="title"/>
          </p:nvPr>
        </p:nvSpPr>
        <p:spPr>
          <a:xfrm>
            <a:off x="839788" y="680524"/>
            <a:ext cx="4253322" cy="106838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3400" u="none" cap="none" strike="noStrike">
                <a:solidFill>
                  <a:schemeClr val="lt1"/>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2pPr>
            <a:lvl3pPr lvl="2"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3pPr>
            <a:lvl4pPr lvl="3"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4pPr>
            <a:lvl5pPr lvl="4" marR="0" rtl="0" algn="l">
              <a:lnSpc>
                <a:spcPct val="90000"/>
              </a:lnSpc>
              <a:spcBef>
                <a:spcPts val="0"/>
              </a:spcBef>
              <a:spcAft>
                <a:spcPts val="0"/>
              </a:spcAft>
              <a:buSzPts val="1400"/>
              <a:buNone/>
              <a:defRPr b="0" i="0" sz="4400" u="none" cap="none" strike="noStrike">
                <a:solidFill>
                  <a:schemeClr val="lt1"/>
                </a:solidFill>
                <a:latin typeface="Oswald"/>
                <a:ea typeface="Oswald"/>
                <a:cs typeface="Oswald"/>
                <a:sym typeface="Oswald"/>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3" name="Google Shape;73;p16"/>
          <p:cNvSpPr txBox="1"/>
          <p:nvPr>
            <p:ph idx="1" type="body"/>
          </p:nvPr>
        </p:nvSpPr>
        <p:spPr>
          <a:xfrm>
            <a:off x="5334001" y="0"/>
            <a:ext cx="6858000" cy="6858000"/>
          </a:xfrm>
          <a:prstGeom prst="rect">
            <a:avLst/>
          </a:prstGeom>
          <a:noFill/>
          <a:ln>
            <a:noFill/>
          </a:ln>
        </p:spPr>
        <p:txBody>
          <a:bodyPr anchorCtr="0" anchor="ctr"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b="0" i="0" sz="2800">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Char char="•"/>
              <a:defRPr b="0" i="0" sz="2800">
                <a:latin typeface="Arial"/>
                <a:ea typeface="Arial"/>
                <a:cs typeface="Arial"/>
                <a:sym typeface="Arial"/>
              </a:defRPr>
            </a:lvl2pPr>
            <a:lvl3pPr indent="-406400" lvl="2" marL="1371600" algn="l">
              <a:lnSpc>
                <a:spcPct val="90000"/>
              </a:lnSpc>
              <a:spcBef>
                <a:spcPts val="500"/>
              </a:spcBef>
              <a:spcAft>
                <a:spcPts val="0"/>
              </a:spcAft>
              <a:buClr>
                <a:schemeClr val="dk1"/>
              </a:buClr>
              <a:buSzPts val="2800"/>
              <a:buChar char="•"/>
              <a:defRPr b="0" i="0" sz="2800">
                <a:latin typeface="Arial"/>
                <a:ea typeface="Arial"/>
                <a:cs typeface="Arial"/>
                <a:sym typeface="Arial"/>
              </a:defRPr>
            </a:lvl3pPr>
            <a:lvl4pPr indent="-406400" lvl="3" marL="1828800" algn="l">
              <a:lnSpc>
                <a:spcPct val="90000"/>
              </a:lnSpc>
              <a:spcBef>
                <a:spcPts val="500"/>
              </a:spcBef>
              <a:spcAft>
                <a:spcPts val="0"/>
              </a:spcAft>
              <a:buClr>
                <a:schemeClr val="dk1"/>
              </a:buClr>
              <a:buSzPts val="2800"/>
              <a:buChar char="•"/>
              <a:defRPr b="0" i="0" sz="2800">
                <a:latin typeface="Arial"/>
                <a:ea typeface="Arial"/>
                <a:cs typeface="Arial"/>
                <a:sym typeface="Arial"/>
              </a:defRPr>
            </a:lvl4pPr>
            <a:lvl5pPr indent="-406400" lvl="4" marL="2286000" algn="l">
              <a:lnSpc>
                <a:spcPct val="90000"/>
              </a:lnSpc>
              <a:spcBef>
                <a:spcPts val="500"/>
              </a:spcBef>
              <a:spcAft>
                <a:spcPts val="0"/>
              </a:spcAft>
              <a:buClr>
                <a:schemeClr val="dk1"/>
              </a:buClr>
              <a:buSzPts val="2800"/>
              <a:buChar char="•"/>
              <a:defRPr b="0" i="0" sz="2800">
                <a:latin typeface="Arial"/>
                <a:ea typeface="Arial"/>
                <a:cs typeface="Arial"/>
                <a:sym typeface="Aria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16"/>
          <p:cNvSpPr txBox="1"/>
          <p:nvPr>
            <p:ph idx="2" type="body"/>
          </p:nvPr>
        </p:nvSpPr>
        <p:spPr>
          <a:xfrm>
            <a:off x="839788" y="2442258"/>
            <a:ext cx="3932237" cy="342673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rgbClr val="FFC000"/>
              </a:buClr>
              <a:buSzPts val="2400"/>
              <a:buNone/>
              <a:defRPr sz="2400">
                <a:solidFill>
                  <a:srgbClr val="FFC000"/>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6"/>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extLst>
    <p:ext uri="{DCECCB84-F9BA-43D5-87BE-67443E8EF086}">
      <p15:sldGuideLst>
        <p15:guide id="1" orient="horz" pos="2160">
          <p15:clr>
            <a:srgbClr val="FBAE40"/>
          </p15:clr>
        </p15:guide>
        <p15:guide id="2" pos="3840">
          <p15:clr>
            <a:srgbClr val="FBAE40"/>
          </p15:clr>
        </p15:guide>
        <p15:guide id="3" pos="33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76" name="Shape 76"/>
        <p:cNvGrpSpPr/>
        <p:nvPr/>
      </p:nvGrpSpPr>
      <p:grpSpPr>
        <a:xfrm>
          <a:off x="0" y="0"/>
          <a:ext cx="0" cy="0"/>
          <a:chOff x="0" y="0"/>
          <a:chExt cx="0" cy="0"/>
        </a:xfrm>
      </p:grpSpPr>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6"/>
          <p:cNvSpPr/>
          <p:nvPr/>
        </p:nvSpPr>
        <p:spPr>
          <a:xfrm>
            <a:off x="0" y="0"/>
            <a:ext cx="12192000" cy="1843088"/>
          </a:xfrm>
          <a:prstGeom prst="rect">
            <a:avLst/>
          </a:prstGeom>
          <a:solidFill>
            <a:srgbClr val="1C3A8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 name="Google Shape;10;p6"/>
          <p:cNvSpPr txBox="1"/>
          <p:nvPr>
            <p:ph idx="1" type="body"/>
          </p:nvPr>
        </p:nvSpPr>
        <p:spPr>
          <a:xfrm>
            <a:off x="838200" y="1922463"/>
            <a:ext cx="10515600" cy="4351337"/>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6"/>
          <p:cNvSpPr txBox="1"/>
          <p:nvPr>
            <p:ph idx="12" type="sldNum"/>
          </p:nvPr>
        </p:nvSpPr>
        <p:spPr>
          <a:xfrm>
            <a:off x="8053388" y="6288088"/>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98989"/>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98989"/>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98989"/>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98989"/>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98989"/>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98989"/>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98989"/>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6"/>
          <p:cNvSpPr txBox="1"/>
          <p:nvPr/>
        </p:nvSpPr>
        <p:spPr>
          <a:xfrm>
            <a:off x="839788" y="317500"/>
            <a:ext cx="10515600" cy="1325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4000" u="none" cap="none" strike="noStrike">
                <a:solidFill>
                  <a:srgbClr val="FFC000"/>
                </a:solidFill>
                <a:latin typeface="Arial"/>
                <a:ea typeface="Arial"/>
                <a:cs typeface="Arial"/>
                <a:sym typeface="Arial"/>
              </a:rPr>
              <a:t>Click to edit Master title style</a:t>
            </a:r>
            <a:endParaRPr/>
          </a:p>
        </p:txBody>
      </p:sp>
      <p:pic>
        <p:nvPicPr>
          <p:cNvPr id="13" name="Google Shape;13;p6"/>
          <p:cNvPicPr preferRelativeResize="0"/>
          <p:nvPr/>
        </p:nvPicPr>
        <p:blipFill rotWithShape="1">
          <a:blip r:embed="rId1">
            <a:alphaModFix/>
          </a:blip>
          <a:srcRect b="0" l="0" r="0" t="0"/>
          <a:stretch/>
        </p:blipFill>
        <p:spPr>
          <a:xfrm>
            <a:off x="10947400" y="6167438"/>
            <a:ext cx="1041400" cy="4905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hyperlink" Target="https://x.com/kirkdborne/status/85289676291437363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sciencedirect.com/topics/computer-science/social-network-analysis"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1" Type="http://schemas.openxmlformats.org/officeDocument/2006/relationships/hyperlink" Target="https://www.kaggle.com/datasets/mashlyn/online-retail-ii-uci" TargetMode="External"/><Relationship Id="rId10" Type="http://schemas.openxmlformats.org/officeDocument/2006/relationships/hyperlink" Target="https://www.analyticsvidhya.com/blog/2021/10/end-to-end-introduction-to-market-basket-analysis-in-r/" TargetMode="External"/><Relationship Id="rId12" Type="http://schemas.openxmlformats.org/officeDocument/2006/relationships/hyperlink" Target="https://www.kaggle.com/datasets/mashlyn/online-retail-ii-uci" TargetMode="External"/><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turing.com/kb/market-basket-analysis" TargetMode="External"/><Relationship Id="rId4" Type="http://schemas.openxmlformats.org/officeDocument/2006/relationships/hyperlink" Target="https://www.turing.com/kb/market-basket-analysis" TargetMode="External"/><Relationship Id="rId9" Type="http://schemas.openxmlformats.org/officeDocument/2006/relationships/hyperlink" Target="https://www.analyticsvidhya.com/blog/2021/10/end-to-end-introduction-to-market-basket-analysis-in-r/" TargetMode="External"/><Relationship Id="rId5" Type="http://schemas.openxmlformats.org/officeDocument/2006/relationships/hyperlink" Target="https://www.analyticsvidhya.com/blog/2021/10/a-comprehensive-guide-on-market-basket-analysis/" TargetMode="External"/><Relationship Id="rId6" Type="http://schemas.openxmlformats.org/officeDocument/2006/relationships/hyperlink" Target="https://www.analyticsvidhya.com/blog/2021/10/a-comprehensive-guide-on-market-basket-analysis/" TargetMode="External"/><Relationship Id="rId7" Type="http://schemas.openxmlformats.org/officeDocument/2006/relationships/hyperlink" Target="https://towardsdatascience.com/a-gentle-introduction-on-market-basket-analysis-association-rules-fa4b986a40ce" TargetMode="External"/><Relationship Id="rId8" Type="http://schemas.openxmlformats.org/officeDocument/2006/relationships/hyperlink" Target="https://towardsdatascience.com/a-gentle-introduction-on-market-basket-analysis-association-rules-fa4b986a40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16502bf319_0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914400" rtl="0" algn="l">
              <a:lnSpc>
                <a:spcPct val="115000"/>
              </a:lnSpc>
              <a:spcBef>
                <a:spcPts val="0"/>
              </a:spcBef>
              <a:spcAft>
                <a:spcPts val="1200"/>
              </a:spcAft>
              <a:buClr>
                <a:schemeClr val="dk1"/>
              </a:buClr>
              <a:buSzPts val="1100"/>
              <a:buFont typeface="Arial"/>
              <a:buNone/>
            </a:pPr>
            <a:r>
              <a:rPr lang="en-US" sz="6200"/>
              <a:t>Market Basket Analysis</a:t>
            </a:r>
            <a:endParaRPr sz="6200"/>
          </a:p>
        </p:txBody>
      </p:sp>
      <p:sp>
        <p:nvSpPr>
          <p:cNvPr id="83" name="Google Shape;83;g316502bf319_0_0"/>
          <p:cNvSpPr txBox="1"/>
          <p:nvPr/>
        </p:nvSpPr>
        <p:spPr>
          <a:xfrm>
            <a:off x="2406850" y="1246925"/>
            <a:ext cx="8557200" cy="6003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0"/>
              </a:spcBef>
              <a:spcAft>
                <a:spcPts val="1200"/>
              </a:spcAft>
              <a:buNone/>
            </a:pPr>
            <a:r>
              <a:rPr b="1" lang="en-US" sz="2700">
                <a:solidFill>
                  <a:schemeClr val="accent2"/>
                </a:solidFill>
              </a:rPr>
              <a:t>K</a:t>
            </a:r>
            <a:r>
              <a:rPr b="1" lang="en-US" sz="2700">
                <a:solidFill>
                  <a:schemeClr val="accent2"/>
                </a:solidFill>
              </a:rPr>
              <a:t>ey Concepts and Applications</a:t>
            </a:r>
            <a:endParaRPr b="1" sz="3000">
              <a:solidFill>
                <a:schemeClr val="accent2"/>
              </a:solidFill>
            </a:endParaRPr>
          </a:p>
        </p:txBody>
      </p:sp>
      <p:pic>
        <p:nvPicPr>
          <p:cNvPr id="84" name="Google Shape;84;g316502bf319_0_0"/>
          <p:cNvPicPr preferRelativeResize="0"/>
          <p:nvPr/>
        </p:nvPicPr>
        <p:blipFill rotWithShape="1">
          <a:blip r:embed="rId3">
            <a:alphaModFix/>
          </a:blip>
          <a:srcRect b="8265" l="0" r="0" t="0"/>
          <a:stretch/>
        </p:blipFill>
        <p:spPr>
          <a:xfrm>
            <a:off x="187862" y="1847225"/>
            <a:ext cx="11819473" cy="4216784"/>
          </a:xfrm>
          <a:prstGeom prst="rect">
            <a:avLst/>
          </a:prstGeom>
          <a:noFill/>
          <a:ln>
            <a:noFill/>
          </a:ln>
        </p:spPr>
      </p:pic>
      <p:sp>
        <p:nvSpPr>
          <p:cNvPr id="85" name="Google Shape;85;g316502bf319_0_0"/>
          <p:cNvSpPr txBox="1"/>
          <p:nvPr/>
        </p:nvSpPr>
        <p:spPr>
          <a:xfrm>
            <a:off x="5459650" y="5832025"/>
            <a:ext cx="1275900" cy="60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u="sng">
                <a:solidFill>
                  <a:schemeClr val="hlink"/>
                </a:solidFill>
                <a:hlinkClick r:id="rId4"/>
              </a:rPr>
              <a:t>Source</a:t>
            </a:r>
            <a:endParaRPr sz="1500">
              <a:solidFill>
                <a:schemeClr val="dk1"/>
              </a:solidFill>
            </a:endParaRPr>
          </a:p>
        </p:txBody>
      </p:sp>
      <p:sp>
        <p:nvSpPr>
          <p:cNvPr id="86" name="Google Shape;86;g316502bf319_0_0"/>
          <p:cNvSpPr txBox="1"/>
          <p:nvPr/>
        </p:nvSpPr>
        <p:spPr>
          <a:xfrm>
            <a:off x="0" y="5774100"/>
            <a:ext cx="1974900" cy="10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rPr>
              <a:t>Evan McLaughlin, Beshkia Kvarnstrom, Vladimir Nimchenko, Victor Torres, </a:t>
            </a:r>
            <a:endParaRPr sz="1200">
              <a:solidFill>
                <a:schemeClr val="dk1"/>
              </a:solidFill>
            </a:endParaRPr>
          </a:p>
          <a:p>
            <a:pPr indent="0" lvl="0" marL="0" rtl="0" algn="l">
              <a:spcBef>
                <a:spcPts val="0"/>
              </a:spcBef>
              <a:spcAft>
                <a:spcPts val="0"/>
              </a:spcAft>
              <a:buNone/>
            </a:pPr>
            <a:r>
              <a:rPr lang="en-US" sz="1200">
                <a:solidFill>
                  <a:schemeClr val="dk1"/>
                </a:solidFill>
              </a:rPr>
              <a:t>Nikoleta Emanouilidi</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2d5c34b7d69_0_0"/>
          <p:cNvSpPr txBox="1"/>
          <p:nvPr>
            <p:ph idx="1" type="body"/>
          </p:nvPr>
        </p:nvSpPr>
        <p:spPr>
          <a:xfrm>
            <a:off x="838200" y="2007163"/>
            <a:ext cx="51816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solidFill>
                  <a:schemeClr val="lt1"/>
                </a:solidFill>
                <a:highlight>
                  <a:schemeClr val="lt2"/>
                </a:highlight>
              </a:rPr>
              <a:t>What is Market Basket Analysis?</a:t>
            </a:r>
            <a:endParaRPr>
              <a:solidFill>
                <a:schemeClr val="lt1"/>
              </a:solidFill>
              <a:highlight>
                <a:schemeClr val="lt2"/>
              </a:highlight>
            </a:endParaRPr>
          </a:p>
          <a:p>
            <a:pPr indent="0" lvl="0" marL="0" rtl="0" algn="l">
              <a:spcBef>
                <a:spcPts val="1000"/>
              </a:spcBef>
              <a:spcAft>
                <a:spcPts val="0"/>
              </a:spcAft>
              <a:buNone/>
            </a:pPr>
            <a:r>
              <a:rPr lang="en-US" sz="2300">
                <a:solidFill>
                  <a:srgbClr val="1C3A83"/>
                </a:solidFill>
              </a:rPr>
              <a:t>Market Basket Analysis (MBA) is a data mining technique that identifies patterns in transactional data to understand the co-occurrence of items purchased together. By analyzing these relationships, businesses gain insights into customer purchasing behavior, enabling more effective product recommendations, bundling strategies, and inventory management.</a:t>
            </a:r>
            <a:endParaRPr sz="2300">
              <a:solidFill>
                <a:srgbClr val="1C3A83"/>
              </a:solidFill>
            </a:endParaRPr>
          </a:p>
        </p:txBody>
      </p:sp>
      <p:sp>
        <p:nvSpPr>
          <p:cNvPr id="93" name="Google Shape;93;g2d5c34b7d69_0_0"/>
          <p:cNvSpPr txBox="1"/>
          <p:nvPr>
            <p:ph idx="2" type="body"/>
          </p:nvPr>
        </p:nvSpPr>
        <p:spPr>
          <a:xfrm>
            <a:off x="6172200" y="2007163"/>
            <a:ext cx="52578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i="1" sz="1100"/>
          </a:p>
          <a:p>
            <a:pPr indent="0" lvl="0" marL="0" rtl="0" algn="l">
              <a:lnSpc>
                <a:spcPct val="115000"/>
              </a:lnSpc>
              <a:spcBef>
                <a:spcPts val="1200"/>
              </a:spcBef>
              <a:spcAft>
                <a:spcPts val="0"/>
              </a:spcAft>
              <a:buNone/>
            </a:pPr>
            <a:r>
              <a:t/>
            </a:r>
            <a:endParaRPr i="1" sz="1100"/>
          </a:p>
          <a:p>
            <a:pPr indent="0" lvl="0" marL="0" rtl="0" algn="l">
              <a:lnSpc>
                <a:spcPct val="115000"/>
              </a:lnSpc>
              <a:spcBef>
                <a:spcPts val="1200"/>
              </a:spcBef>
              <a:spcAft>
                <a:spcPts val="0"/>
              </a:spcAft>
              <a:buNone/>
            </a:pPr>
            <a:r>
              <a:rPr i="1" lang="en-US" sz="2000">
                <a:solidFill>
                  <a:srgbClr val="1C3A83"/>
                </a:solidFill>
              </a:rPr>
              <a:t>The main objective of MBA is to identify product associations and insights to improve marketing/sales strategies, and customer experience/engagement.</a:t>
            </a:r>
            <a:endParaRPr i="1" sz="2000">
              <a:solidFill>
                <a:srgbClr val="1C3A83"/>
              </a:solidFill>
            </a:endParaRPr>
          </a:p>
          <a:p>
            <a:pPr indent="0" lvl="0" marL="0" rtl="0" algn="l">
              <a:lnSpc>
                <a:spcPct val="115000"/>
              </a:lnSpc>
              <a:spcBef>
                <a:spcPts val="1200"/>
              </a:spcBef>
              <a:spcAft>
                <a:spcPts val="0"/>
              </a:spcAft>
              <a:buNone/>
            </a:pPr>
            <a:r>
              <a:t/>
            </a:r>
            <a:endParaRPr i="1" sz="2000">
              <a:solidFill>
                <a:srgbClr val="1C3A83"/>
              </a:solidFill>
            </a:endParaRPr>
          </a:p>
          <a:p>
            <a:pPr indent="0" lvl="0" marL="0" rtl="0" algn="l">
              <a:lnSpc>
                <a:spcPct val="115000"/>
              </a:lnSpc>
              <a:spcBef>
                <a:spcPts val="1200"/>
              </a:spcBef>
              <a:spcAft>
                <a:spcPts val="0"/>
              </a:spcAft>
              <a:buNone/>
            </a:pPr>
            <a:r>
              <a:rPr i="1" lang="en-US" sz="2000">
                <a:solidFill>
                  <a:srgbClr val="1C3A83"/>
                </a:solidFill>
              </a:rPr>
              <a:t>Market Basket Analysis (MBA) is widely used across industries to uncover customer behavior patterns and optimize operations.</a:t>
            </a:r>
            <a:endParaRPr i="1" sz="2000">
              <a:solidFill>
                <a:srgbClr val="1C3A83"/>
              </a:solidFill>
            </a:endParaRPr>
          </a:p>
          <a:p>
            <a:pPr indent="0" lvl="0" marL="0" rtl="0" algn="l">
              <a:spcBef>
                <a:spcPts val="1200"/>
              </a:spcBef>
              <a:spcAft>
                <a:spcPts val="0"/>
              </a:spcAft>
              <a:buClr>
                <a:schemeClr val="dk1"/>
              </a:buClr>
              <a:buSzPts val="1100"/>
              <a:buFont typeface="Arial"/>
              <a:buNone/>
            </a:pPr>
            <a:r>
              <a:t/>
            </a:r>
            <a:endParaRPr>
              <a:solidFill>
                <a:schemeClr val="lt1"/>
              </a:solidFill>
              <a:highlight>
                <a:schemeClr val="lt2"/>
              </a:highlight>
            </a:endParaRPr>
          </a:p>
        </p:txBody>
      </p:sp>
      <p:sp>
        <p:nvSpPr>
          <p:cNvPr id="94" name="Google Shape;94;g2d5c34b7d69_0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Introduction to Market Basket Analysis</a:t>
            </a:r>
            <a:endParaRPr/>
          </a:p>
        </p:txBody>
      </p:sp>
      <p:sp>
        <p:nvSpPr>
          <p:cNvPr id="95" name="Google Shape;95;g2d5c34b7d69_0_0"/>
          <p:cNvSpPr txBox="1"/>
          <p:nvPr/>
        </p:nvSpPr>
        <p:spPr>
          <a:xfrm>
            <a:off x="6823925" y="2062500"/>
            <a:ext cx="4364100" cy="6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700">
                <a:solidFill>
                  <a:srgbClr val="FFC000"/>
                </a:solidFill>
                <a:highlight>
                  <a:srgbClr val="1B3A83"/>
                </a:highlight>
              </a:rPr>
              <a:t>Objective</a:t>
            </a:r>
            <a:endParaRPr b="1" sz="2700">
              <a:solidFill>
                <a:srgbClr val="FFC000"/>
              </a:solidFill>
              <a:highlight>
                <a:srgbClr val="1B3A83"/>
              </a:highlight>
            </a:endParaRPr>
          </a:p>
        </p:txBody>
      </p:sp>
      <p:sp>
        <p:nvSpPr>
          <p:cNvPr id="96" name="Google Shape;96;g2d5c34b7d69_0_0"/>
          <p:cNvSpPr txBox="1"/>
          <p:nvPr/>
        </p:nvSpPr>
        <p:spPr>
          <a:xfrm>
            <a:off x="6823925" y="4266000"/>
            <a:ext cx="4364100" cy="6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700">
                <a:solidFill>
                  <a:srgbClr val="FFC000"/>
                </a:solidFill>
                <a:highlight>
                  <a:srgbClr val="1B3A83"/>
                </a:highlight>
              </a:rPr>
              <a:t>Typical Application</a:t>
            </a:r>
            <a:endParaRPr b="1" sz="2700">
              <a:solidFill>
                <a:srgbClr val="FFC000"/>
              </a:solidFill>
              <a:highlight>
                <a:srgbClr val="1B3A8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d5c34b7d69_0_12"/>
          <p:cNvSpPr txBox="1"/>
          <p:nvPr>
            <p:ph idx="1" type="body"/>
          </p:nvPr>
        </p:nvSpPr>
        <p:spPr>
          <a:xfrm>
            <a:off x="838200" y="2007175"/>
            <a:ext cx="11189400" cy="4114800"/>
          </a:xfrm>
          <a:prstGeom prst="rect">
            <a:avLst/>
          </a:prstGeom>
        </p:spPr>
        <p:txBody>
          <a:bodyPr anchorCtr="0" anchor="t" bIns="45700" lIns="91425" spcFirstLastPara="1" rIns="91425" wrap="square" tIns="45700">
            <a:noAutofit/>
          </a:bodyPr>
          <a:lstStyle/>
          <a:p>
            <a:pPr indent="-374650" lvl="0" marL="457200" rtl="0" algn="l">
              <a:lnSpc>
                <a:spcPct val="150000"/>
              </a:lnSpc>
              <a:spcBef>
                <a:spcPts val="1000"/>
              </a:spcBef>
              <a:spcAft>
                <a:spcPts val="0"/>
              </a:spcAft>
              <a:buClr>
                <a:srgbClr val="1C3A83"/>
              </a:buClr>
              <a:buSzPts val="2300"/>
              <a:buChar char="❖"/>
            </a:pPr>
            <a:r>
              <a:rPr b="1" lang="en-US" sz="2300">
                <a:solidFill>
                  <a:srgbClr val="1C3A83"/>
                </a:solidFill>
              </a:rPr>
              <a:t>Retail Industry: </a:t>
            </a:r>
            <a:r>
              <a:rPr lang="en-US" sz="2300">
                <a:solidFill>
                  <a:srgbClr val="1C3A83"/>
                </a:solidFill>
              </a:rPr>
              <a:t>Understand customer buying patterns to optimize store layout and product placement.</a:t>
            </a:r>
            <a:endParaRPr sz="2300">
              <a:solidFill>
                <a:srgbClr val="1C3A83"/>
              </a:solidFill>
            </a:endParaRPr>
          </a:p>
          <a:p>
            <a:pPr indent="-374650" lvl="0" marL="457200" rtl="0" algn="l">
              <a:lnSpc>
                <a:spcPct val="150000"/>
              </a:lnSpc>
              <a:spcBef>
                <a:spcPts val="0"/>
              </a:spcBef>
              <a:spcAft>
                <a:spcPts val="0"/>
              </a:spcAft>
              <a:buClr>
                <a:srgbClr val="1C3A83"/>
              </a:buClr>
              <a:buSzPts val="2300"/>
              <a:buChar char="❖"/>
            </a:pPr>
            <a:r>
              <a:rPr b="1" lang="en-US" sz="2300">
                <a:solidFill>
                  <a:srgbClr val="1C3A83"/>
                </a:solidFill>
              </a:rPr>
              <a:t>E-commerce:</a:t>
            </a:r>
            <a:r>
              <a:rPr lang="en-US" sz="2300">
                <a:solidFill>
                  <a:srgbClr val="1C3A83"/>
                </a:solidFill>
              </a:rPr>
              <a:t> Product recommendations and upselling opportunities.</a:t>
            </a:r>
            <a:endParaRPr sz="2300">
              <a:solidFill>
                <a:srgbClr val="1C3A83"/>
              </a:solidFill>
            </a:endParaRPr>
          </a:p>
          <a:p>
            <a:pPr indent="-374650" lvl="0" marL="457200" rtl="0" algn="l">
              <a:lnSpc>
                <a:spcPct val="150000"/>
              </a:lnSpc>
              <a:spcBef>
                <a:spcPts val="0"/>
              </a:spcBef>
              <a:spcAft>
                <a:spcPts val="0"/>
              </a:spcAft>
              <a:buClr>
                <a:srgbClr val="1C3A83"/>
              </a:buClr>
              <a:buSzPts val="2300"/>
              <a:buChar char="❖"/>
            </a:pPr>
            <a:r>
              <a:rPr b="1" lang="en-US" sz="2300">
                <a:solidFill>
                  <a:srgbClr val="1C3A83"/>
                </a:solidFill>
              </a:rPr>
              <a:t>Inventory Management: </a:t>
            </a:r>
            <a:r>
              <a:rPr lang="en-US" sz="2300">
                <a:solidFill>
                  <a:srgbClr val="1C3A83"/>
                </a:solidFill>
              </a:rPr>
              <a:t>Manage stock based on frequently bought item pairs or sets.</a:t>
            </a:r>
            <a:endParaRPr sz="2300">
              <a:solidFill>
                <a:srgbClr val="1C3A83"/>
              </a:solidFill>
            </a:endParaRPr>
          </a:p>
          <a:p>
            <a:pPr indent="-374650" lvl="0" marL="457200" rtl="0" algn="l">
              <a:lnSpc>
                <a:spcPct val="150000"/>
              </a:lnSpc>
              <a:spcBef>
                <a:spcPts val="0"/>
              </a:spcBef>
              <a:spcAft>
                <a:spcPts val="0"/>
              </a:spcAft>
              <a:buClr>
                <a:srgbClr val="1C3A83"/>
              </a:buClr>
              <a:buSzPts val="2300"/>
              <a:buChar char="❖"/>
            </a:pPr>
            <a:r>
              <a:rPr b="1" lang="en-US" sz="2300">
                <a:solidFill>
                  <a:srgbClr val="1C3A83"/>
                </a:solidFill>
              </a:rPr>
              <a:t>Marketing and Promotions:</a:t>
            </a:r>
            <a:r>
              <a:rPr lang="en-US" sz="2300">
                <a:solidFill>
                  <a:srgbClr val="1C3A83"/>
                </a:solidFill>
              </a:rPr>
              <a:t> Bundle products or offer targeted discounts.</a:t>
            </a:r>
            <a:endParaRPr sz="2300">
              <a:solidFill>
                <a:srgbClr val="1C3A83"/>
              </a:solidFill>
            </a:endParaRPr>
          </a:p>
          <a:p>
            <a:pPr indent="-374650" lvl="0" marL="457200" rtl="0" algn="l">
              <a:lnSpc>
                <a:spcPct val="150000"/>
              </a:lnSpc>
              <a:spcBef>
                <a:spcPts val="0"/>
              </a:spcBef>
              <a:spcAft>
                <a:spcPts val="0"/>
              </a:spcAft>
              <a:buClr>
                <a:srgbClr val="1C3A83"/>
              </a:buClr>
              <a:buSzPts val="2300"/>
              <a:buChar char="❖"/>
            </a:pPr>
            <a:r>
              <a:rPr b="1" lang="en-US" sz="2300">
                <a:solidFill>
                  <a:srgbClr val="1C3A83"/>
                </a:solidFill>
              </a:rPr>
              <a:t>Financial Services:</a:t>
            </a:r>
            <a:r>
              <a:rPr lang="en-US" sz="2300">
                <a:solidFill>
                  <a:srgbClr val="1C3A83"/>
                </a:solidFill>
              </a:rPr>
              <a:t> Fraud detection.</a:t>
            </a:r>
            <a:endParaRPr sz="2300">
              <a:solidFill>
                <a:srgbClr val="1C3A83"/>
              </a:solidFill>
            </a:endParaRPr>
          </a:p>
          <a:p>
            <a:pPr indent="-374650" lvl="0" marL="457200" rtl="0" algn="l">
              <a:lnSpc>
                <a:spcPct val="150000"/>
              </a:lnSpc>
              <a:spcBef>
                <a:spcPts val="0"/>
              </a:spcBef>
              <a:spcAft>
                <a:spcPts val="0"/>
              </a:spcAft>
              <a:buClr>
                <a:srgbClr val="1C3A83"/>
              </a:buClr>
              <a:buSzPts val="2300"/>
              <a:buChar char="❖"/>
            </a:pPr>
            <a:r>
              <a:rPr b="1" lang="en-US" sz="2300">
                <a:solidFill>
                  <a:srgbClr val="1C3A83"/>
                </a:solidFill>
              </a:rPr>
              <a:t>Telecommunication: </a:t>
            </a:r>
            <a:r>
              <a:rPr lang="en-US" sz="2300">
                <a:solidFill>
                  <a:srgbClr val="1C3A83"/>
                </a:solidFill>
              </a:rPr>
              <a:t>Offering bundled services.</a:t>
            </a:r>
            <a:endParaRPr sz="2300">
              <a:solidFill>
                <a:srgbClr val="1C3A83"/>
              </a:solidFill>
            </a:endParaRPr>
          </a:p>
          <a:p>
            <a:pPr indent="0" lvl="0" marL="0" rtl="0" algn="l">
              <a:spcBef>
                <a:spcPts val="1000"/>
              </a:spcBef>
              <a:spcAft>
                <a:spcPts val="0"/>
              </a:spcAft>
              <a:buClr>
                <a:schemeClr val="dk1"/>
              </a:buClr>
              <a:buSzPts val="1100"/>
              <a:buFont typeface="Arial"/>
              <a:buNone/>
            </a:pPr>
            <a:r>
              <a:t/>
            </a:r>
            <a:endParaRPr sz="2300">
              <a:solidFill>
                <a:srgbClr val="1C3A83"/>
              </a:solidFill>
            </a:endParaRPr>
          </a:p>
          <a:p>
            <a:pPr indent="0" lvl="0" marL="457200" rtl="0" algn="l">
              <a:lnSpc>
                <a:spcPct val="115000"/>
              </a:lnSpc>
              <a:spcBef>
                <a:spcPts val="1200"/>
              </a:spcBef>
              <a:spcAft>
                <a:spcPts val="0"/>
              </a:spcAft>
              <a:buNone/>
            </a:pPr>
            <a:r>
              <a:t/>
            </a:r>
            <a:endParaRPr>
              <a:solidFill>
                <a:schemeClr val="lt1"/>
              </a:solidFill>
              <a:highlight>
                <a:schemeClr val="lt2"/>
              </a:highlight>
            </a:endParaRPr>
          </a:p>
          <a:p>
            <a:pPr indent="0" lvl="0" marL="0" rtl="0" algn="l">
              <a:spcBef>
                <a:spcPts val="1200"/>
              </a:spcBef>
              <a:spcAft>
                <a:spcPts val="0"/>
              </a:spcAft>
              <a:buNone/>
            </a:pPr>
            <a:r>
              <a:t/>
            </a:r>
            <a:endParaRPr/>
          </a:p>
        </p:txBody>
      </p:sp>
      <p:sp>
        <p:nvSpPr>
          <p:cNvPr id="103" name="Google Shape;103;g2d5c34b7d69_0_12"/>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Applications of Market Basket Analysis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2d5c34b7d69_0_19"/>
          <p:cNvSpPr txBox="1"/>
          <p:nvPr>
            <p:ph idx="1" type="body"/>
          </p:nvPr>
        </p:nvSpPr>
        <p:spPr>
          <a:xfrm>
            <a:off x="796250" y="1986200"/>
            <a:ext cx="111789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300">
                <a:solidFill>
                  <a:srgbClr val="1C3A83"/>
                </a:solidFill>
              </a:rPr>
              <a:t>Market Basket Analysis</a:t>
            </a:r>
            <a:r>
              <a:rPr lang="en-US" sz="2300">
                <a:solidFill>
                  <a:srgbClr val="1C3A83"/>
                </a:solidFill>
              </a:rPr>
              <a:t> revolves around discovering patterns and associations in transactional data.</a:t>
            </a:r>
            <a:endParaRPr sz="2300">
              <a:solidFill>
                <a:srgbClr val="1C3A83"/>
              </a:solidFill>
            </a:endParaRPr>
          </a:p>
          <a:p>
            <a:pPr indent="0" lvl="0" marL="0" rtl="0" algn="l">
              <a:spcBef>
                <a:spcPts val="1000"/>
              </a:spcBef>
              <a:spcAft>
                <a:spcPts val="0"/>
              </a:spcAft>
              <a:buNone/>
            </a:pPr>
            <a:r>
              <a:t/>
            </a:r>
            <a:endParaRPr sz="2300">
              <a:solidFill>
                <a:srgbClr val="1C3A83"/>
              </a:solidFill>
            </a:endParaRPr>
          </a:p>
          <a:p>
            <a:pPr indent="0" lvl="0" marL="0" rtl="0" algn="l">
              <a:spcBef>
                <a:spcPts val="1000"/>
              </a:spcBef>
              <a:spcAft>
                <a:spcPts val="0"/>
              </a:spcAft>
              <a:buNone/>
            </a:pPr>
            <a:r>
              <a:rPr lang="en-US" sz="2300">
                <a:solidFill>
                  <a:srgbClr val="1C3A83"/>
                </a:solidFill>
              </a:rPr>
              <a:t>At the heart of </a:t>
            </a:r>
            <a:r>
              <a:rPr b="1" lang="en-US" sz="2300">
                <a:solidFill>
                  <a:srgbClr val="1C3A83"/>
                </a:solidFill>
              </a:rPr>
              <a:t>Market Basket Analysis</a:t>
            </a:r>
            <a:r>
              <a:rPr lang="en-US" sz="2300">
                <a:solidFill>
                  <a:srgbClr val="1C3A83"/>
                </a:solidFill>
              </a:rPr>
              <a:t> lies the concept of Association Rules. </a:t>
            </a:r>
            <a:r>
              <a:rPr b="1" lang="en-US" sz="2300">
                <a:solidFill>
                  <a:srgbClr val="1C3A83"/>
                </a:solidFill>
              </a:rPr>
              <a:t>Association Rules</a:t>
            </a:r>
            <a:r>
              <a:rPr lang="en-US" sz="2300">
                <a:solidFill>
                  <a:srgbClr val="1C3A83"/>
                </a:solidFill>
              </a:rPr>
              <a:t> are used to identify patterns of co-occurrence in transactional data.</a:t>
            </a:r>
            <a:endParaRPr sz="2300">
              <a:solidFill>
                <a:srgbClr val="1C3A83"/>
              </a:solidFill>
            </a:endParaRPr>
          </a:p>
          <a:p>
            <a:pPr indent="0" lvl="0" marL="0" rtl="0" algn="l">
              <a:spcBef>
                <a:spcPts val="1000"/>
              </a:spcBef>
              <a:spcAft>
                <a:spcPts val="0"/>
              </a:spcAft>
              <a:buNone/>
            </a:pPr>
            <a:r>
              <a:t/>
            </a:r>
            <a:endParaRPr sz="2300">
              <a:solidFill>
                <a:srgbClr val="1C3A83"/>
              </a:solidFill>
            </a:endParaRPr>
          </a:p>
          <a:p>
            <a:pPr indent="0" lvl="0" marL="0" rtl="0" algn="ctr">
              <a:spcBef>
                <a:spcPts val="1000"/>
              </a:spcBef>
              <a:spcAft>
                <a:spcPts val="0"/>
              </a:spcAft>
              <a:buNone/>
            </a:pPr>
            <a:r>
              <a:rPr lang="en-US" sz="2300">
                <a:solidFill>
                  <a:srgbClr val="1C3A83"/>
                </a:solidFill>
              </a:rPr>
              <a:t>A→B</a:t>
            </a:r>
            <a:endParaRPr sz="2300">
              <a:solidFill>
                <a:srgbClr val="1C3A83"/>
              </a:solidFill>
            </a:endParaRPr>
          </a:p>
          <a:p>
            <a:pPr indent="-374650" lvl="0" marL="457200" rtl="0" algn="l">
              <a:spcBef>
                <a:spcPts val="1000"/>
              </a:spcBef>
              <a:spcAft>
                <a:spcPts val="0"/>
              </a:spcAft>
              <a:buClr>
                <a:srgbClr val="1C3A83"/>
              </a:buClr>
              <a:buSzPts val="2300"/>
              <a:buChar char="❖"/>
            </a:pPr>
            <a:r>
              <a:rPr lang="en-US" sz="2300">
                <a:solidFill>
                  <a:srgbClr val="1C3A83"/>
                </a:solidFill>
              </a:rPr>
              <a:t>A (Antecedent): The item(s) on the left-hand side of the rule.</a:t>
            </a:r>
            <a:endParaRPr sz="2300">
              <a:solidFill>
                <a:srgbClr val="1C3A83"/>
              </a:solidFill>
            </a:endParaRPr>
          </a:p>
          <a:p>
            <a:pPr indent="-374650" lvl="0" marL="457200" rtl="0" algn="l">
              <a:spcBef>
                <a:spcPts val="0"/>
              </a:spcBef>
              <a:spcAft>
                <a:spcPts val="0"/>
              </a:spcAft>
              <a:buClr>
                <a:srgbClr val="1C3A83"/>
              </a:buClr>
              <a:buSzPts val="2300"/>
              <a:buChar char="❖"/>
            </a:pPr>
            <a:r>
              <a:rPr lang="en-US" sz="2300">
                <a:solidFill>
                  <a:srgbClr val="1C3A83"/>
                </a:solidFill>
              </a:rPr>
              <a:t>B (Consequent): The item(s) on the right-hand side of the rule.</a:t>
            </a:r>
            <a:endParaRPr sz="2300">
              <a:solidFill>
                <a:srgbClr val="1C3A83"/>
              </a:solidFill>
            </a:endParaRPr>
          </a:p>
        </p:txBody>
      </p:sp>
      <p:sp>
        <p:nvSpPr>
          <p:cNvPr id="110" name="Google Shape;110;g2d5c34b7d69_0_19"/>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Core Concepts </a:t>
            </a:r>
            <a:r>
              <a:rPr lang="en-US"/>
              <a:t>of Market Basket Analysis</a:t>
            </a:r>
            <a:endParaRPr/>
          </a:p>
          <a:p>
            <a:pPr indent="0" lvl="0" marL="0" rtl="0" algn="l">
              <a:spcBef>
                <a:spcPts val="0"/>
              </a:spcBef>
              <a:spcAft>
                <a:spcPts val="0"/>
              </a:spcAft>
              <a:buNone/>
            </a:pPr>
            <a:r>
              <a:t/>
            </a:r>
            <a:endParaRPr/>
          </a:p>
        </p:txBody>
      </p:sp>
      <p:sp>
        <p:nvSpPr>
          <p:cNvPr id="111" name="Google Shape;111;g2d5c34b7d69_0_19"/>
          <p:cNvSpPr/>
          <p:nvPr/>
        </p:nvSpPr>
        <p:spPr>
          <a:xfrm>
            <a:off x="943750" y="4205000"/>
            <a:ext cx="10411800" cy="4824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solidFill>
                  <a:schemeClr val="accent5"/>
                </a:solidFill>
              </a:rPr>
              <a:t>If-then statements e.g., {Bread} → {Butter} ("If a customer buys Bread, they are likely to buy Butter.")</a:t>
            </a:r>
            <a:endParaRPr sz="1800">
              <a:solidFill>
                <a:schemeClr val="accent5"/>
              </a:solidFill>
            </a:endParaRPr>
          </a:p>
          <a:p>
            <a:pPr indent="0" lvl="0" marL="0" rtl="0" algn="ctr">
              <a:lnSpc>
                <a:spcPct val="115000"/>
              </a:lnSpc>
              <a:spcBef>
                <a:spcPts val="1200"/>
              </a:spcBef>
              <a:spcAft>
                <a:spcPts val="1200"/>
              </a:spcAft>
              <a:buClr>
                <a:schemeClr val="dk1"/>
              </a:buClr>
              <a:buSzPts val="1100"/>
              <a:buFont typeface="Arial"/>
              <a:buNone/>
            </a:pPr>
            <a:r>
              <a:t/>
            </a:r>
            <a:endParaRPr sz="1800">
              <a:solidFill>
                <a:schemeClr val="accent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d5c34b7d69_0_30"/>
          <p:cNvSpPr txBox="1"/>
          <p:nvPr>
            <p:ph idx="2" type="body"/>
          </p:nvPr>
        </p:nvSpPr>
        <p:spPr>
          <a:xfrm>
            <a:off x="293625" y="2007175"/>
            <a:ext cx="111363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000">
                <a:solidFill>
                  <a:srgbClr val="1C3A83"/>
                </a:solidFill>
              </a:rPr>
              <a:t>Support – </a:t>
            </a:r>
            <a:r>
              <a:rPr lang="en-US" sz="2000">
                <a:solidFill>
                  <a:srgbClr val="1C3A83"/>
                </a:solidFill>
              </a:rPr>
              <a:t>This is the proportion of transactions containing both antecedent (A) and consequent (B). Its purpose is to measure the frequency of the rule in the dataset.</a:t>
            </a:r>
            <a:endParaRPr sz="2000">
              <a:solidFill>
                <a:srgbClr val="1C3A83"/>
              </a:solidFill>
            </a:endParaRPr>
          </a:p>
          <a:p>
            <a:pPr indent="0" lvl="0" marL="0" rtl="0" algn="l">
              <a:spcBef>
                <a:spcPts val="1000"/>
              </a:spcBef>
              <a:spcAft>
                <a:spcPts val="0"/>
              </a:spcAft>
              <a:buNone/>
            </a:pPr>
            <a:r>
              <a:t/>
            </a:r>
            <a:endParaRPr sz="2000">
              <a:solidFill>
                <a:srgbClr val="1C3A83"/>
              </a:solidFill>
            </a:endParaRPr>
          </a:p>
          <a:p>
            <a:pPr indent="0" lvl="0" marL="0" rtl="0" algn="l">
              <a:spcBef>
                <a:spcPts val="1000"/>
              </a:spcBef>
              <a:spcAft>
                <a:spcPts val="0"/>
              </a:spcAft>
              <a:buNone/>
            </a:pPr>
            <a:r>
              <a:t/>
            </a:r>
            <a:endParaRPr sz="2000">
              <a:solidFill>
                <a:srgbClr val="1C3A83"/>
              </a:solidFill>
            </a:endParaRPr>
          </a:p>
          <a:p>
            <a:pPr indent="0" lvl="0" marL="0" rtl="0" algn="l">
              <a:spcBef>
                <a:spcPts val="1000"/>
              </a:spcBef>
              <a:spcAft>
                <a:spcPts val="0"/>
              </a:spcAft>
              <a:buNone/>
            </a:pPr>
            <a:r>
              <a:rPr b="1" lang="en-US" sz="2000">
                <a:solidFill>
                  <a:srgbClr val="1C3A83"/>
                </a:solidFill>
              </a:rPr>
              <a:t>Confidence - </a:t>
            </a:r>
            <a:r>
              <a:rPr lang="en-US" sz="2000">
                <a:solidFill>
                  <a:srgbClr val="1C3A83"/>
                </a:solidFill>
              </a:rPr>
              <a:t> This is the likelihood of purchasing consequent BBB, given antecedent AAA. Used to indicate the strength of the rule.</a:t>
            </a:r>
            <a:endParaRPr sz="2000">
              <a:solidFill>
                <a:srgbClr val="1C3A83"/>
              </a:solidFill>
            </a:endParaRPr>
          </a:p>
          <a:p>
            <a:pPr indent="0" lvl="0" marL="0" rtl="0" algn="l">
              <a:spcBef>
                <a:spcPts val="1000"/>
              </a:spcBef>
              <a:spcAft>
                <a:spcPts val="0"/>
              </a:spcAft>
              <a:buNone/>
            </a:pPr>
            <a:r>
              <a:t/>
            </a:r>
            <a:endParaRPr b="1" sz="2000">
              <a:solidFill>
                <a:srgbClr val="1C3A83"/>
              </a:solidFill>
            </a:endParaRPr>
          </a:p>
          <a:p>
            <a:pPr indent="0" lvl="0" marL="0" rtl="0" algn="l">
              <a:spcBef>
                <a:spcPts val="1000"/>
              </a:spcBef>
              <a:spcAft>
                <a:spcPts val="0"/>
              </a:spcAft>
              <a:buNone/>
            </a:pPr>
            <a:r>
              <a:t/>
            </a:r>
            <a:endParaRPr b="1" sz="2000">
              <a:solidFill>
                <a:srgbClr val="1C3A83"/>
              </a:solidFill>
            </a:endParaRPr>
          </a:p>
          <a:p>
            <a:pPr indent="0" lvl="0" marL="0" rtl="0" algn="l">
              <a:spcBef>
                <a:spcPts val="1000"/>
              </a:spcBef>
              <a:spcAft>
                <a:spcPts val="0"/>
              </a:spcAft>
              <a:buNone/>
            </a:pPr>
            <a:r>
              <a:rPr b="1" lang="en-US" sz="2000">
                <a:solidFill>
                  <a:srgbClr val="1C3A83"/>
                </a:solidFill>
              </a:rPr>
              <a:t>Lift - </a:t>
            </a:r>
            <a:r>
              <a:rPr lang="en-US" sz="2000">
                <a:solidFill>
                  <a:srgbClr val="1C3A83"/>
                </a:solidFill>
              </a:rPr>
              <a:t> The strength of the association between AAA and BBB, compared to their independence.</a:t>
            </a:r>
            <a:endParaRPr sz="2000">
              <a:solidFill>
                <a:srgbClr val="1C3A83"/>
              </a:solidFill>
            </a:endParaRPr>
          </a:p>
          <a:p>
            <a:pPr indent="0" lvl="0" marL="0" rtl="0" algn="l">
              <a:spcBef>
                <a:spcPts val="1000"/>
              </a:spcBef>
              <a:spcAft>
                <a:spcPts val="0"/>
              </a:spcAft>
              <a:buNone/>
            </a:pPr>
            <a:r>
              <a:t/>
            </a:r>
            <a:endParaRPr>
              <a:solidFill>
                <a:srgbClr val="1C3A83"/>
              </a:solidFill>
            </a:endParaRPr>
          </a:p>
        </p:txBody>
      </p:sp>
      <p:sp>
        <p:nvSpPr>
          <p:cNvPr id="118" name="Google Shape;118;g2d5c34b7d69_0_3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Metrics to Evaluate Association Rules</a:t>
            </a:r>
            <a:endParaRPr/>
          </a:p>
        </p:txBody>
      </p:sp>
      <p:pic>
        <p:nvPicPr>
          <p:cNvPr id="119" name="Google Shape;119;g2d5c34b7d69_0_30"/>
          <p:cNvPicPr preferRelativeResize="0"/>
          <p:nvPr/>
        </p:nvPicPr>
        <p:blipFill>
          <a:blip r:embed="rId3">
            <a:alphaModFix/>
          </a:blip>
          <a:stretch>
            <a:fillRect/>
          </a:stretch>
        </p:blipFill>
        <p:spPr>
          <a:xfrm>
            <a:off x="2087650" y="2630500"/>
            <a:ext cx="5257800" cy="904875"/>
          </a:xfrm>
          <a:prstGeom prst="rect">
            <a:avLst/>
          </a:prstGeom>
          <a:noFill/>
          <a:ln>
            <a:noFill/>
          </a:ln>
        </p:spPr>
      </p:pic>
      <p:pic>
        <p:nvPicPr>
          <p:cNvPr id="120" name="Google Shape;120;g2d5c34b7d69_0_30"/>
          <p:cNvPicPr preferRelativeResize="0"/>
          <p:nvPr/>
        </p:nvPicPr>
        <p:blipFill>
          <a:blip r:embed="rId4">
            <a:alphaModFix/>
          </a:blip>
          <a:stretch>
            <a:fillRect/>
          </a:stretch>
        </p:blipFill>
        <p:spPr>
          <a:xfrm>
            <a:off x="2087638" y="4215663"/>
            <a:ext cx="4981575" cy="828675"/>
          </a:xfrm>
          <a:prstGeom prst="rect">
            <a:avLst/>
          </a:prstGeom>
          <a:noFill/>
          <a:ln>
            <a:noFill/>
          </a:ln>
        </p:spPr>
      </p:pic>
      <p:pic>
        <p:nvPicPr>
          <p:cNvPr id="121" name="Google Shape;121;g2d5c34b7d69_0_30"/>
          <p:cNvPicPr preferRelativeResize="0"/>
          <p:nvPr/>
        </p:nvPicPr>
        <p:blipFill>
          <a:blip r:embed="rId5">
            <a:alphaModFix/>
          </a:blip>
          <a:stretch>
            <a:fillRect/>
          </a:stretch>
        </p:blipFill>
        <p:spPr>
          <a:xfrm>
            <a:off x="2087651" y="5473975"/>
            <a:ext cx="5336600" cy="923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15ece4b4b7_0_0"/>
          <p:cNvSpPr txBox="1"/>
          <p:nvPr>
            <p:ph idx="1" type="body"/>
          </p:nvPr>
        </p:nvSpPr>
        <p:spPr>
          <a:xfrm>
            <a:off x="200250" y="1876675"/>
            <a:ext cx="51963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2800">
                <a:solidFill>
                  <a:schemeClr val="lt1"/>
                </a:solidFill>
                <a:highlight>
                  <a:schemeClr val="lt2"/>
                </a:highlight>
              </a:rPr>
              <a:t>What are Association Rules?</a:t>
            </a:r>
            <a:endParaRPr sz="2800">
              <a:solidFill>
                <a:schemeClr val="lt1"/>
              </a:solidFill>
              <a:highlight>
                <a:schemeClr val="lt2"/>
              </a:highlight>
            </a:endParaRPr>
          </a:p>
          <a:p>
            <a:pPr indent="-381000" lvl="0" marL="457200" rtl="0" algn="l">
              <a:spcBef>
                <a:spcPts val="1000"/>
              </a:spcBef>
              <a:spcAft>
                <a:spcPts val="0"/>
              </a:spcAft>
              <a:buClr>
                <a:srgbClr val="1C3A83"/>
              </a:buClr>
              <a:buSzPts val="2400"/>
              <a:buChar char="❖"/>
            </a:pPr>
            <a:r>
              <a:rPr lang="en-US" sz="2400">
                <a:solidFill>
                  <a:srgbClr val="1C3A83"/>
                </a:solidFill>
                <a:highlight>
                  <a:schemeClr val="lt1"/>
                </a:highlight>
              </a:rPr>
              <a:t>Rules that identify patterns or relationships in large datasets, commonly used in market basket analysis.</a:t>
            </a:r>
            <a:endParaRPr sz="2400">
              <a:solidFill>
                <a:srgbClr val="1C3A83"/>
              </a:solidFill>
              <a:highlight>
                <a:schemeClr val="lt1"/>
              </a:highlight>
            </a:endParaRPr>
          </a:p>
          <a:p>
            <a:pPr indent="0" lvl="0" marL="0" rtl="0" algn="l">
              <a:spcBef>
                <a:spcPts val="1000"/>
              </a:spcBef>
              <a:spcAft>
                <a:spcPts val="0"/>
              </a:spcAft>
              <a:buNone/>
            </a:pPr>
            <a:r>
              <a:t/>
            </a:r>
            <a:endParaRPr sz="3200">
              <a:solidFill>
                <a:srgbClr val="1B3A83"/>
              </a:solidFill>
              <a:highlight>
                <a:schemeClr val="lt2"/>
              </a:highlight>
            </a:endParaRPr>
          </a:p>
          <a:p>
            <a:pPr indent="0" lvl="0" marL="0" rtl="0" algn="l">
              <a:spcBef>
                <a:spcPts val="1000"/>
              </a:spcBef>
              <a:spcAft>
                <a:spcPts val="0"/>
              </a:spcAft>
              <a:buClr>
                <a:schemeClr val="dk1"/>
              </a:buClr>
              <a:buSzPts val="1100"/>
              <a:buFont typeface="Arial"/>
              <a:buNone/>
            </a:pPr>
            <a:r>
              <a:rPr b="1" lang="en-US" sz="1900">
                <a:solidFill>
                  <a:srgbClr val="1B3A83"/>
                </a:solidFill>
              </a:rPr>
              <a:t>Example:</a:t>
            </a:r>
            <a:endParaRPr b="1" sz="1900">
              <a:solidFill>
                <a:srgbClr val="1B3A83"/>
              </a:solidFill>
            </a:endParaRPr>
          </a:p>
          <a:p>
            <a:pPr indent="0" lvl="0" marL="381000" marR="381000" rtl="0" algn="l">
              <a:lnSpc>
                <a:spcPct val="115000"/>
              </a:lnSpc>
              <a:spcBef>
                <a:spcPts val="1200"/>
              </a:spcBef>
              <a:spcAft>
                <a:spcPts val="0"/>
              </a:spcAft>
              <a:buClr>
                <a:schemeClr val="dk1"/>
              </a:buClr>
              <a:buSzPts val="1100"/>
              <a:buFont typeface="Arial"/>
              <a:buNone/>
            </a:pPr>
            <a:r>
              <a:rPr b="1" i="1" lang="en-US" sz="1900">
                <a:solidFill>
                  <a:srgbClr val="1B3A83"/>
                </a:solidFill>
              </a:rPr>
              <a:t>If {diapers} are purchased, then {beer} is likely purchased too.</a:t>
            </a:r>
            <a:endParaRPr b="1" i="1" sz="1900">
              <a:solidFill>
                <a:srgbClr val="1B3A83"/>
              </a:solidFill>
            </a:endParaRPr>
          </a:p>
          <a:p>
            <a:pPr indent="0" lvl="0" marL="0" rtl="0" algn="l">
              <a:spcBef>
                <a:spcPts val="1200"/>
              </a:spcBef>
              <a:spcAft>
                <a:spcPts val="0"/>
              </a:spcAft>
              <a:buNone/>
            </a:pPr>
            <a:r>
              <a:t/>
            </a:r>
            <a:endParaRPr>
              <a:solidFill>
                <a:schemeClr val="lt1"/>
              </a:solidFill>
              <a:highlight>
                <a:schemeClr val="lt2"/>
              </a:highlight>
            </a:endParaRPr>
          </a:p>
        </p:txBody>
      </p:sp>
      <p:sp>
        <p:nvSpPr>
          <p:cNvPr id="128" name="Google Shape;128;g315ece4b4b7_0_0"/>
          <p:cNvSpPr txBox="1"/>
          <p:nvPr>
            <p:ph idx="2" type="body"/>
          </p:nvPr>
        </p:nvSpPr>
        <p:spPr>
          <a:xfrm>
            <a:off x="5846700" y="2891600"/>
            <a:ext cx="63453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700">
                <a:solidFill>
                  <a:srgbClr val="1C3A83"/>
                </a:solidFill>
              </a:rPr>
              <a:t>Apriori identifies frequent itemsets by leveraging the "downward closure property": if an itemset is not frequent, its supersets cannot be frequent either.</a:t>
            </a:r>
            <a:endParaRPr b="1" sz="2700">
              <a:solidFill>
                <a:srgbClr val="1C3A83"/>
              </a:solidFill>
            </a:endParaRPr>
          </a:p>
        </p:txBody>
      </p:sp>
      <p:sp>
        <p:nvSpPr>
          <p:cNvPr id="129" name="Google Shape;129;g315ece4b4b7_0_0"/>
          <p:cNvSpPr txBox="1"/>
          <p:nvPr>
            <p:ph type="title"/>
          </p:nvPr>
        </p:nvSpPr>
        <p:spPr>
          <a:xfrm>
            <a:off x="336375" y="318250"/>
            <a:ext cx="122952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5800"/>
              <a:t>      Mining Association Rules</a:t>
            </a:r>
            <a:endParaRPr sz="5800"/>
          </a:p>
          <a:p>
            <a:pPr indent="0" lvl="0" marL="0" rtl="0" algn="l">
              <a:spcBef>
                <a:spcPts val="0"/>
              </a:spcBef>
              <a:spcAft>
                <a:spcPts val="0"/>
              </a:spcAft>
              <a:buNone/>
            </a:pPr>
            <a:r>
              <a:rPr lang="en-US" sz="2300">
                <a:solidFill>
                  <a:schemeClr val="lt1"/>
                </a:solidFill>
              </a:rPr>
              <a:t>    Overview of the Apriori Algorithm and Challenges in Market Basket Analysis</a:t>
            </a:r>
            <a:endParaRPr sz="2300">
              <a:solidFill>
                <a:schemeClr val="lt1"/>
              </a:solidFill>
            </a:endParaRPr>
          </a:p>
        </p:txBody>
      </p:sp>
      <p:sp>
        <p:nvSpPr>
          <p:cNvPr id="130" name="Google Shape;130;g315ece4b4b7_0_0"/>
          <p:cNvSpPr txBox="1"/>
          <p:nvPr/>
        </p:nvSpPr>
        <p:spPr>
          <a:xfrm>
            <a:off x="6928800" y="1978600"/>
            <a:ext cx="4364100" cy="10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FFC000"/>
                </a:solidFill>
                <a:highlight>
                  <a:srgbClr val="1B3A83"/>
                </a:highlight>
              </a:rPr>
              <a:t>APRIORI ALGORITHM</a:t>
            </a:r>
            <a:endParaRPr b="1" sz="2700">
              <a:solidFill>
                <a:srgbClr val="FFC000"/>
              </a:solidFill>
              <a:highlight>
                <a:srgbClr val="1B3A83"/>
              </a:highlight>
            </a:endParaRPr>
          </a:p>
          <a:p>
            <a:pPr indent="0" lvl="0" marL="0" rtl="0" algn="l">
              <a:spcBef>
                <a:spcPts val="0"/>
              </a:spcBef>
              <a:spcAft>
                <a:spcPts val="0"/>
              </a:spcAft>
              <a:buNone/>
            </a:pPr>
            <a:r>
              <a:rPr b="1" lang="en-US" sz="2700">
                <a:solidFill>
                  <a:srgbClr val="FFC000"/>
                </a:solidFill>
                <a:highlight>
                  <a:schemeClr val="lt1"/>
                </a:highlight>
              </a:rPr>
              <a:t>            </a:t>
            </a:r>
            <a:r>
              <a:rPr b="1" lang="en-US" sz="2700">
                <a:solidFill>
                  <a:srgbClr val="FFC000"/>
                </a:solidFill>
                <a:highlight>
                  <a:srgbClr val="1B3A83"/>
                </a:highlight>
              </a:rPr>
              <a:t>Definition</a:t>
            </a:r>
            <a:endParaRPr b="1" sz="2700">
              <a:solidFill>
                <a:srgbClr val="FFC000"/>
              </a:solidFill>
              <a:highlight>
                <a:srgbClr val="1B3A83"/>
              </a:highlight>
            </a:endParaRPr>
          </a:p>
        </p:txBody>
      </p:sp>
      <p:sp>
        <p:nvSpPr>
          <p:cNvPr id="131" name="Google Shape;131;g315ece4b4b7_0_0"/>
          <p:cNvSpPr txBox="1"/>
          <p:nvPr/>
        </p:nvSpPr>
        <p:spPr>
          <a:xfrm>
            <a:off x="6096000" y="4862950"/>
            <a:ext cx="17253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FFC000"/>
                </a:solidFill>
                <a:highlight>
                  <a:schemeClr val="lt2"/>
                </a:highlight>
              </a:rPr>
              <a:t>Simpler</a:t>
            </a:r>
            <a:endParaRPr b="1" sz="2600">
              <a:solidFill>
                <a:srgbClr val="FFC000"/>
              </a:solidFill>
              <a:highlight>
                <a:schemeClr val="lt2"/>
              </a:highlight>
            </a:endParaRPr>
          </a:p>
        </p:txBody>
      </p:sp>
      <p:sp>
        <p:nvSpPr>
          <p:cNvPr id="132" name="Google Shape;132;g315ece4b4b7_0_0"/>
          <p:cNvSpPr txBox="1"/>
          <p:nvPr/>
        </p:nvSpPr>
        <p:spPr>
          <a:xfrm>
            <a:off x="5266050" y="5268950"/>
            <a:ext cx="6027000" cy="15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B3A83"/>
                </a:solidFill>
              </a:rPr>
              <a:t>The Apriori algorithm finds frequent itemsets using a simple rule: if a</a:t>
            </a:r>
            <a:r>
              <a:rPr b="1" lang="en-US" sz="2100">
                <a:solidFill>
                  <a:srgbClr val="1B3A83"/>
                </a:solidFill>
                <a:highlight>
                  <a:schemeClr val="accent2"/>
                </a:highlight>
              </a:rPr>
              <a:t> smaller group of items isn't popular,</a:t>
            </a:r>
            <a:r>
              <a:rPr b="1" lang="en-US" sz="2100">
                <a:solidFill>
                  <a:srgbClr val="1B3A83"/>
                </a:solidFill>
              </a:rPr>
              <a:t> then </a:t>
            </a:r>
            <a:r>
              <a:rPr b="1" lang="en-US" sz="2100">
                <a:solidFill>
                  <a:srgbClr val="1B3A83"/>
                </a:solidFill>
                <a:highlight>
                  <a:srgbClr val="FFC000"/>
                </a:highlight>
              </a:rPr>
              <a:t>bigger groups that include those items can't be popular either</a:t>
            </a:r>
            <a:r>
              <a:rPr b="1" lang="en-US" sz="2100">
                <a:solidFill>
                  <a:srgbClr val="1B3A83"/>
                </a:solidFill>
              </a:rPr>
              <a:t>.</a:t>
            </a:r>
            <a:endParaRPr b="1" sz="2100">
              <a:solidFill>
                <a:srgbClr val="1B3A8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15ece4b4b7_0_19"/>
          <p:cNvSpPr txBox="1"/>
          <p:nvPr>
            <p:ph idx="1" type="body"/>
          </p:nvPr>
        </p:nvSpPr>
        <p:spPr>
          <a:xfrm>
            <a:off x="-113100" y="1804200"/>
            <a:ext cx="6872400" cy="5053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i="1" lang="en-US" sz="2100">
                <a:solidFill>
                  <a:schemeClr val="lt1"/>
                </a:solidFill>
                <a:highlight>
                  <a:schemeClr val="accent1"/>
                </a:highlight>
              </a:rPr>
              <a:t> Iterative Process </a:t>
            </a:r>
            <a:r>
              <a:rPr b="1" i="1" lang="en-US" sz="2100">
                <a:solidFill>
                  <a:schemeClr val="lt1"/>
                </a:solidFill>
              </a:rPr>
              <a:t>s</a:t>
            </a:r>
            <a:r>
              <a:rPr b="1" lang="en-US" sz="2100">
                <a:solidFill>
                  <a:schemeClr val="lt1"/>
                </a:solidFill>
              </a:rPr>
              <a:t>:</a:t>
            </a:r>
            <a:endParaRPr b="1" sz="2100">
              <a:solidFill>
                <a:schemeClr val="lt1"/>
              </a:solidFill>
            </a:endParaRPr>
          </a:p>
          <a:p>
            <a:pPr indent="-349250" lvl="0" marL="457200" rtl="0" algn="l">
              <a:lnSpc>
                <a:spcPct val="115000"/>
              </a:lnSpc>
              <a:spcBef>
                <a:spcPts val="1200"/>
              </a:spcBef>
              <a:spcAft>
                <a:spcPts val="0"/>
              </a:spcAft>
              <a:buClr>
                <a:srgbClr val="1B3A83"/>
              </a:buClr>
              <a:buSzPts val="1900"/>
              <a:buAutoNum type="arabicPeriod"/>
            </a:pPr>
            <a:r>
              <a:rPr b="1" lang="en-US" sz="1900">
                <a:solidFill>
                  <a:srgbClr val="1B3A83"/>
                </a:solidFill>
              </a:rPr>
              <a:t>Generate candidate itemsets from transactions.</a:t>
            </a:r>
            <a:endParaRPr b="1" sz="1900">
              <a:solidFill>
                <a:srgbClr val="1B3A83"/>
              </a:solidFill>
            </a:endParaRPr>
          </a:p>
          <a:p>
            <a:pPr indent="-349250" lvl="0" marL="457200" rtl="0" algn="l">
              <a:lnSpc>
                <a:spcPct val="115000"/>
              </a:lnSpc>
              <a:spcBef>
                <a:spcPts val="0"/>
              </a:spcBef>
              <a:spcAft>
                <a:spcPts val="0"/>
              </a:spcAft>
              <a:buClr>
                <a:srgbClr val="1B3A83"/>
              </a:buClr>
              <a:buSzPts val="1900"/>
              <a:buAutoNum type="arabicPeriod"/>
            </a:pPr>
            <a:r>
              <a:rPr b="1" lang="en-US" sz="1900">
                <a:solidFill>
                  <a:srgbClr val="1B3A83"/>
                </a:solidFill>
              </a:rPr>
              <a:t>Calculate </a:t>
            </a:r>
            <a:r>
              <a:rPr b="1" i="1" lang="en-US" sz="1900">
                <a:solidFill>
                  <a:srgbClr val="1B3A83"/>
                </a:solidFill>
                <a:highlight>
                  <a:srgbClr val="FFC000"/>
                </a:highlight>
              </a:rPr>
              <a:t>support</a:t>
            </a:r>
            <a:r>
              <a:rPr b="1" lang="en-US" sz="1900">
                <a:solidFill>
                  <a:srgbClr val="1B3A83"/>
                </a:solidFill>
                <a:highlight>
                  <a:srgbClr val="FFC000"/>
                </a:highlight>
              </a:rPr>
              <a:t> </a:t>
            </a:r>
            <a:r>
              <a:rPr b="1" lang="en-US" sz="1900">
                <a:solidFill>
                  <a:srgbClr val="1B3A83"/>
                </a:solidFill>
              </a:rPr>
              <a:t>for each itemset.</a:t>
            </a:r>
            <a:endParaRPr b="1" sz="1900">
              <a:solidFill>
                <a:srgbClr val="1B3A83"/>
              </a:solidFill>
            </a:endParaRPr>
          </a:p>
          <a:p>
            <a:pPr indent="-349250" lvl="0" marL="457200" rtl="0" algn="l">
              <a:lnSpc>
                <a:spcPct val="115000"/>
              </a:lnSpc>
              <a:spcBef>
                <a:spcPts val="0"/>
              </a:spcBef>
              <a:spcAft>
                <a:spcPts val="0"/>
              </a:spcAft>
              <a:buClr>
                <a:srgbClr val="1B3A83"/>
              </a:buClr>
              <a:buSzPts val="1900"/>
              <a:buAutoNum type="arabicPeriod"/>
            </a:pPr>
            <a:r>
              <a:rPr b="1" lang="en-US" sz="1900">
                <a:solidFill>
                  <a:srgbClr val="1B3A83"/>
                </a:solidFill>
              </a:rPr>
              <a:t>Eliminate itemsets below the minimum support threshold.</a:t>
            </a:r>
            <a:endParaRPr b="1" sz="1900">
              <a:solidFill>
                <a:srgbClr val="1B3A83"/>
              </a:solidFill>
            </a:endParaRPr>
          </a:p>
          <a:p>
            <a:pPr indent="-349250" lvl="0" marL="457200" rtl="0" algn="l">
              <a:lnSpc>
                <a:spcPct val="115000"/>
              </a:lnSpc>
              <a:spcBef>
                <a:spcPts val="0"/>
              </a:spcBef>
              <a:spcAft>
                <a:spcPts val="0"/>
              </a:spcAft>
              <a:buClr>
                <a:srgbClr val="1B3A83"/>
              </a:buClr>
              <a:buSzPts val="1900"/>
              <a:buAutoNum type="arabicPeriod"/>
            </a:pPr>
            <a:r>
              <a:rPr b="1" lang="en-US" sz="1900">
                <a:solidFill>
                  <a:srgbClr val="1B3A83"/>
                </a:solidFill>
              </a:rPr>
              <a:t>Use frequent itemsets to generate association rules with thresholds for </a:t>
            </a:r>
            <a:r>
              <a:rPr b="1" i="1" lang="en-US" sz="1900">
                <a:solidFill>
                  <a:srgbClr val="1B3A83"/>
                </a:solidFill>
                <a:highlight>
                  <a:srgbClr val="FFC000"/>
                </a:highlight>
              </a:rPr>
              <a:t>confidence</a:t>
            </a:r>
            <a:r>
              <a:rPr b="1" lang="en-US" sz="1900">
                <a:solidFill>
                  <a:srgbClr val="1B3A83"/>
                </a:solidFill>
                <a:highlight>
                  <a:srgbClr val="FFC000"/>
                </a:highlight>
              </a:rPr>
              <a:t> and </a:t>
            </a:r>
            <a:r>
              <a:rPr b="1" i="1" lang="en-US" sz="1900">
                <a:solidFill>
                  <a:srgbClr val="1B3A83"/>
                </a:solidFill>
                <a:highlight>
                  <a:srgbClr val="FFC000"/>
                </a:highlight>
              </a:rPr>
              <a:t>lift</a:t>
            </a:r>
            <a:r>
              <a:rPr b="1" lang="en-US" sz="1900">
                <a:solidFill>
                  <a:srgbClr val="1B3A83"/>
                </a:solidFill>
                <a:highlight>
                  <a:srgbClr val="FFC000"/>
                </a:highlight>
              </a:rPr>
              <a:t>.</a:t>
            </a:r>
            <a:endParaRPr i="1" sz="1700"/>
          </a:p>
          <a:p>
            <a:pPr indent="0" lvl="0" marL="0" rtl="0" algn="l">
              <a:lnSpc>
                <a:spcPct val="115000"/>
              </a:lnSpc>
              <a:spcBef>
                <a:spcPts val="1200"/>
              </a:spcBef>
              <a:spcAft>
                <a:spcPts val="0"/>
              </a:spcAft>
              <a:buNone/>
            </a:pPr>
            <a:r>
              <a:rPr b="1" i="1" lang="en-US" sz="2000">
                <a:solidFill>
                  <a:schemeClr val="lt1"/>
                </a:solidFill>
                <a:highlight>
                  <a:schemeClr val="accent1"/>
                </a:highlight>
              </a:rPr>
              <a:t>Example Application</a:t>
            </a:r>
            <a:r>
              <a:rPr b="1" lang="en-US" sz="2000">
                <a:solidFill>
                  <a:schemeClr val="lt1"/>
                </a:solidFill>
                <a:highlight>
                  <a:schemeClr val="accent1"/>
                </a:highlight>
              </a:rPr>
              <a:t>:</a:t>
            </a:r>
            <a:endParaRPr b="1" sz="2000">
              <a:solidFill>
                <a:schemeClr val="lt1"/>
              </a:solidFill>
              <a:highlight>
                <a:schemeClr val="accent1"/>
              </a:highlight>
            </a:endParaRPr>
          </a:p>
          <a:p>
            <a:pPr indent="-355600" lvl="0" marL="457200" rtl="0" algn="l">
              <a:lnSpc>
                <a:spcPct val="115000"/>
              </a:lnSpc>
              <a:spcBef>
                <a:spcPts val="1200"/>
              </a:spcBef>
              <a:spcAft>
                <a:spcPts val="0"/>
              </a:spcAft>
              <a:buClr>
                <a:srgbClr val="1B3A83"/>
              </a:buClr>
              <a:buSzPts val="2000"/>
              <a:buChar char="●"/>
            </a:pPr>
            <a:r>
              <a:rPr b="1" lang="en-US" sz="2000">
                <a:solidFill>
                  <a:srgbClr val="1B3A83"/>
                </a:solidFill>
              </a:rPr>
              <a:t>Grocery Store Analysis:</a:t>
            </a:r>
            <a:endParaRPr b="1" sz="2000">
              <a:solidFill>
                <a:srgbClr val="1B3A83"/>
              </a:solidFill>
            </a:endParaRPr>
          </a:p>
          <a:p>
            <a:pPr indent="-355600" lvl="1" marL="914400" rtl="0" algn="l">
              <a:lnSpc>
                <a:spcPct val="115000"/>
              </a:lnSpc>
              <a:spcBef>
                <a:spcPts val="0"/>
              </a:spcBef>
              <a:spcAft>
                <a:spcPts val="0"/>
              </a:spcAft>
              <a:buClr>
                <a:srgbClr val="1B3A83"/>
              </a:buClr>
              <a:buSzPts val="2000"/>
              <a:buChar char="○"/>
            </a:pPr>
            <a:r>
              <a:rPr b="1" lang="en-US" sz="2000">
                <a:solidFill>
                  <a:srgbClr val="1B3A83"/>
                </a:solidFill>
              </a:rPr>
              <a:t>Transaction data: </a:t>
            </a:r>
            <a:r>
              <a:rPr b="1" lang="en-US" sz="2000">
                <a:solidFill>
                  <a:srgbClr val="1B3A83"/>
                </a:solidFill>
                <a:latin typeface="Roboto Mono"/>
                <a:ea typeface="Roboto Mono"/>
                <a:cs typeface="Roboto Mono"/>
                <a:sym typeface="Roboto Mono"/>
              </a:rPr>
              <a:t>{Milk, Bread, Butter}</a:t>
            </a:r>
            <a:r>
              <a:rPr b="1" lang="en-US" sz="2000">
                <a:solidFill>
                  <a:srgbClr val="1B3A83"/>
                </a:solidFill>
              </a:rPr>
              <a:t>.</a:t>
            </a:r>
            <a:endParaRPr b="1" sz="2000">
              <a:solidFill>
                <a:srgbClr val="1B3A83"/>
              </a:solidFill>
            </a:endParaRPr>
          </a:p>
          <a:p>
            <a:pPr indent="-355600" lvl="1" marL="914400" rtl="0" algn="l">
              <a:lnSpc>
                <a:spcPct val="115000"/>
              </a:lnSpc>
              <a:spcBef>
                <a:spcPts val="0"/>
              </a:spcBef>
              <a:spcAft>
                <a:spcPts val="0"/>
              </a:spcAft>
              <a:buClr>
                <a:srgbClr val="1B3A83"/>
              </a:buClr>
              <a:buSzPts val="2000"/>
              <a:buChar char="○"/>
            </a:pPr>
            <a:r>
              <a:rPr b="1" lang="en-US" sz="2000">
                <a:solidFill>
                  <a:srgbClr val="1B3A83"/>
                </a:solidFill>
              </a:rPr>
              <a:t>Rule: </a:t>
            </a:r>
            <a:r>
              <a:rPr b="1" lang="en-US" sz="2000">
                <a:solidFill>
                  <a:srgbClr val="1B3A83"/>
                </a:solidFill>
                <a:latin typeface="Roboto Mono"/>
                <a:ea typeface="Roboto Mono"/>
                <a:cs typeface="Roboto Mono"/>
                <a:sym typeface="Roboto Mono"/>
              </a:rPr>
              <a:t>{Milk, Bread} → {Butter}</a:t>
            </a:r>
            <a:r>
              <a:rPr b="1" lang="en-US" sz="2000">
                <a:solidFill>
                  <a:srgbClr val="1B3A83"/>
                </a:solidFill>
              </a:rPr>
              <a:t>.</a:t>
            </a:r>
            <a:endParaRPr b="1" sz="2000">
              <a:solidFill>
                <a:srgbClr val="1B3A83"/>
              </a:solidFill>
            </a:endParaRPr>
          </a:p>
          <a:p>
            <a:pPr indent="-368300" lvl="1" marL="914400" rtl="0" algn="l">
              <a:lnSpc>
                <a:spcPct val="115000"/>
              </a:lnSpc>
              <a:spcBef>
                <a:spcPts val="0"/>
              </a:spcBef>
              <a:spcAft>
                <a:spcPts val="0"/>
              </a:spcAft>
              <a:buClr>
                <a:srgbClr val="1B3A83"/>
              </a:buClr>
              <a:buSzPts val="2200"/>
              <a:buChar char="○"/>
            </a:pPr>
            <a:r>
              <a:rPr b="1" lang="en-US" sz="2000">
                <a:solidFill>
                  <a:srgbClr val="1B3A83"/>
                </a:solidFill>
              </a:rPr>
              <a:t>Support = 50%, Confidence = 80%, Lift = 1.5</a:t>
            </a:r>
            <a:r>
              <a:rPr b="1" lang="en-US" sz="1400">
                <a:solidFill>
                  <a:srgbClr val="1B3A83"/>
                </a:solidFill>
              </a:rPr>
              <a:t>.</a:t>
            </a:r>
            <a:endParaRPr b="1" sz="1400">
              <a:solidFill>
                <a:srgbClr val="1B3A83"/>
              </a:solidFill>
            </a:endParaRPr>
          </a:p>
          <a:p>
            <a:pPr indent="0" lvl="0" marL="0" rtl="0" algn="l">
              <a:lnSpc>
                <a:spcPct val="115000"/>
              </a:lnSpc>
              <a:spcBef>
                <a:spcPts val="1200"/>
              </a:spcBef>
              <a:spcAft>
                <a:spcPts val="0"/>
              </a:spcAft>
              <a:buNone/>
            </a:pPr>
            <a:r>
              <a:t/>
            </a:r>
            <a:endParaRPr sz="1100">
              <a:solidFill>
                <a:srgbClr val="1B3A83"/>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1B3A83"/>
              </a:solidFill>
            </a:endParaRPr>
          </a:p>
          <a:p>
            <a:pPr indent="0" lvl="0" marL="0" rtl="0" algn="l">
              <a:spcBef>
                <a:spcPts val="1000"/>
              </a:spcBef>
              <a:spcAft>
                <a:spcPts val="0"/>
              </a:spcAft>
              <a:buNone/>
            </a:pPr>
            <a:r>
              <a:t/>
            </a:r>
            <a:endParaRPr/>
          </a:p>
        </p:txBody>
      </p:sp>
      <p:sp>
        <p:nvSpPr>
          <p:cNvPr id="139" name="Google Shape;139;g315ece4b4b7_0_19"/>
          <p:cNvSpPr txBox="1"/>
          <p:nvPr>
            <p:ph type="title"/>
          </p:nvPr>
        </p:nvSpPr>
        <p:spPr>
          <a:xfrm>
            <a:off x="838188" y="651723"/>
            <a:ext cx="10515600" cy="1325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sz="4500"/>
              <a:t>Overview of the Apriori Algorithm</a:t>
            </a:r>
            <a:endParaRPr sz="4500"/>
          </a:p>
        </p:txBody>
      </p:sp>
      <p:sp>
        <p:nvSpPr>
          <p:cNvPr id="140" name="Google Shape;140;g315ece4b4b7_0_19"/>
          <p:cNvSpPr/>
          <p:nvPr/>
        </p:nvSpPr>
        <p:spPr>
          <a:xfrm>
            <a:off x="6948000" y="1891175"/>
            <a:ext cx="5244000" cy="41316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300">
                <a:solidFill>
                  <a:schemeClr val="lt2"/>
                </a:solidFill>
              </a:rPr>
              <a:t>from mlxtend.frequent_patterns import apriori, association_rules</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One-hot encoded data</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transactions = pd.DataFrame([</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{'Milk': 1, 'Bread': 1, 'Butter': 1},</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{'Milk': 1, 'Bread': 1, 'Butter': 0},</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{'Milk': 0, 'Bread': 1, 'Butter': 1},</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{'Milk': 1, 'Bread': 0, 'Butter': 1}</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a:t>
            </a:r>
            <a:endParaRPr b="1" sz="1300">
              <a:solidFill>
                <a:schemeClr val="lt2"/>
              </a:solidFill>
            </a:endParaRPr>
          </a:p>
          <a:p>
            <a:pPr indent="0" lvl="0" marL="0" rtl="0" algn="l">
              <a:spcBef>
                <a:spcPts val="0"/>
              </a:spcBef>
              <a:spcAft>
                <a:spcPts val="0"/>
              </a:spcAft>
              <a:buClr>
                <a:schemeClr val="dk1"/>
              </a:buClr>
              <a:buSzPts val="1100"/>
              <a:buFont typeface="Arial"/>
              <a:buNone/>
            </a:pPr>
            <a:r>
              <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Apriori Algorithm</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frequent_itemsets = apriori(transactions, min_support=0.5, use_colnames=True)</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rules = association_rules(frequent_itemsets, metric="confidence", min_threshold=0.7)</a:t>
            </a:r>
            <a:endParaRPr b="1" sz="1300">
              <a:solidFill>
                <a:schemeClr val="lt2"/>
              </a:solidFill>
            </a:endParaRPr>
          </a:p>
          <a:p>
            <a:pPr indent="0" lvl="0" marL="0" rtl="0" algn="l">
              <a:spcBef>
                <a:spcPts val="0"/>
              </a:spcBef>
              <a:spcAft>
                <a:spcPts val="0"/>
              </a:spcAft>
              <a:buClr>
                <a:schemeClr val="dk1"/>
              </a:buClr>
              <a:buSzPts val="1100"/>
              <a:buFont typeface="Arial"/>
              <a:buNone/>
            </a:pPr>
            <a:r>
              <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Example Rule</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rule = rules[(rules['antecedents'] == frozenset({'Milk', 'Bread'})) &amp;</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             (rules['consequents'] == frozenset({'Butter'}))]</a:t>
            </a:r>
            <a:endParaRPr b="1" sz="1300">
              <a:solidFill>
                <a:schemeClr val="lt2"/>
              </a:solidFill>
            </a:endParaRPr>
          </a:p>
          <a:p>
            <a:pPr indent="0" lvl="0" marL="0" rtl="0" algn="l">
              <a:spcBef>
                <a:spcPts val="0"/>
              </a:spcBef>
              <a:spcAft>
                <a:spcPts val="0"/>
              </a:spcAft>
              <a:buClr>
                <a:schemeClr val="dk1"/>
              </a:buClr>
              <a:buSzPts val="1100"/>
              <a:buFont typeface="Arial"/>
              <a:buNone/>
            </a:pPr>
            <a:r>
              <a:rPr b="1" lang="en-US" sz="1300">
                <a:solidFill>
                  <a:schemeClr val="lt2"/>
                </a:solidFill>
              </a:rPr>
              <a:t>print(rule)</a:t>
            </a:r>
            <a:endParaRPr b="1" sz="1300">
              <a:solidFill>
                <a:schemeClr val="lt2"/>
              </a:solidFill>
            </a:endParaRPr>
          </a:p>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15ece4b4b7_0_33"/>
          <p:cNvSpPr txBox="1"/>
          <p:nvPr>
            <p:ph idx="1" type="body"/>
          </p:nvPr>
        </p:nvSpPr>
        <p:spPr>
          <a:xfrm>
            <a:off x="0" y="1832575"/>
            <a:ext cx="6513000" cy="45819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600">
                <a:solidFill>
                  <a:schemeClr val="lt1"/>
                </a:solidFill>
                <a:highlight>
                  <a:srgbClr val="1C3A84"/>
                </a:highlight>
              </a:rPr>
              <a:t>Key Challenges in Market Basket Analysis</a:t>
            </a:r>
            <a:endParaRPr b="1" sz="1600">
              <a:solidFill>
                <a:schemeClr val="lt1"/>
              </a:solidFill>
              <a:highlight>
                <a:srgbClr val="1C3A84"/>
              </a:highlight>
            </a:endParaRPr>
          </a:p>
          <a:p>
            <a:pPr indent="0" lvl="0" marL="0" rtl="0" algn="l">
              <a:lnSpc>
                <a:spcPct val="115000"/>
              </a:lnSpc>
              <a:spcBef>
                <a:spcPts val="1200"/>
              </a:spcBef>
              <a:spcAft>
                <a:spcPts val="0"/>
              </a:spcAft>
              <a:buNone/>
            </a:pPr>
            <a:r>
              <a:rPr b="1" lang="en-US" sz="1500">
                <a:solidFill>
                  <a:schemeClr val="accent1"/>
                </a:solidFill>
                <a:highlight>
                  <a:srgbClr val="FFC000"/>
                </a:highlight>
              </a:rPr>
              <a:t>1. Large Volume of Rules</a:t>
            </a:r>
            <a:endParaRPr b="1" sz="1500">
              <a:solidFill>
                <a:schemeClr val="accent1"/>
              </a:solidFill>
              <a:highlight>
                <a:srgbClr val="FFC000"/>
              </a:highlight>
            </a:endParaRPr>
          </a:p>
          <a:p>
            <a:pPr indent="-323850" lvl="0" marL="457200" rtl="0" algn="l">
              <a:lnSpc>
                <a:spcPct val="115000"/>
              </a:lnSpc>
              <a:spcBef>
                <a:spcPts val="1200"/>
              </a:spcBef>
              <a:spcAft>
                <a:spcPts val="0"/>
              </a:spcAft>
              <a:buClr>
                <a:srgbClr val="1C3A84"/>
              </a:buClr>
              <a:buSzPts val="1500"/>
              <a:buChar char="●"/>
            </a:pPr>
            <a:r>
              <a:rPr b="1" lang="en-US" sz="1500">
                <a:solidFill>
                  <a:srgbClr val="1C3A84"/>
                </a:solidFill>
                <a:highlight>
                  <a:schemeClr val="accent2"/>
                </a:highlight>
              </a:rPr>
              <a:t>Challenge: Market Basket Analysis often generates thousands of association rules, which can overwhelm analysts. Among this vast number, only a few are genuinely meaningful or actionable. For instance:</a:t>
            </a:r>
            <a:endParaRPr b="1" sz="1500">
              <a:solidFill>
                <a:srgbClr val="1C3A84"/>
              </a:solidFill>
              <a:highlight>
                <a:schemeClr val="accent2"/>
              </a:highlight>
            </a:endParaRPr>
          </a:p>
          <a:p>
            <a:pPr indent="-323850" lvl="1" marL="914400" rtl="0" algn="l">
              <a:lnSpc>
                <a:spcPct val="115000"/>
              </a:lnSpc>
              <a:spcBef>
                <a:spcPts val="0"/>
              </a:spcBef>
              <a:spcAft>
                <a:spcPts val="0"/>
              </a:spcAft>
              <a:buSzPts val="1500"/>
              <a:buChar char="○"/>
            </a:pPr>
            <a:r>
              <a:rPr b="1" lang="en-US" sz="1500"/>
              <a:t>A grocery dataset might produce rules like:</a:t>
            </a:r>
            <a:endParaRPr b="1" sz="1500"/>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{Bread, Milk} → {Butter}</a:t>
            </a:r>
            <a:endParaRPr b="1" sz="1500">
              <a:solidFill>
                <a:srgbClr val="188038"/>
              </a:solidFill>
              <a:latin typeface="Roboto Mono"/>
              <a:ea typeface="Roboto Mono"/>
              <a:cs typeface="Roboto Mono"/>
              <a:sym typeface="Roboto Mono"/>
            </a:endParaRPr>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{Eggs, Cheese} → {Milk}</a:t>
            </a:r>
            <a:endParaRPr b="1" sz="1500">
              <a:solidFill>
                <a:srgbClr val="188038"/>
              </a:solidFill>
              <a:latin typeface="Roboto Mono"/>
              <a:ea typeface="Roboto Mono"/>
              <a:cs typeface="Roboto Mono"/>
              <a:sym typeface="Roboto Mono"/>
            </a:endParaRPr>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{Chips, Soda} → {Candy}</a:t>
            </a:r>
            <a:endParaRPr b="1" sz="1500">
              <a:solidFill>
                <a:srgbClr val="188038"/>
              </a:solidFill>
              <a:latin typeface="Roboto Mono"/>
              <a:ea typeface="Roboto Mono"/>
              <a:cs typeface="Roboto Mono"/>
              <a:sym typeface="Roboto Mono"/>
            </a:endParaRPr>
          </a:p>
          <a:p>
            <a:pPr indent="-323850" lvl="1" marL="914400" rtl="0" algn="l">
              <a:lnSpc>
                <a:spcPct val="115000"/>
              </a:lnSpc>
              <a:spcBef>
                <a:spcPts val="0"/>
              </a:spcBef>
              <a:spcAft>
                <a:spcPts val="0"/>
              </a:spcAft>
              <a:buSzPts val="1500"/>
              <a:buChar char="○"/>
            </a:pPr>
            <a:r>
              <a:rPr b="1" lang="en-US" sz="1500"/>
              <a:t>While some of these rules provide useful insights, others might be too numerous or irrelevant to act upon.</a:t>
            </a:r>
            <a:endParaRPr b="1" sz="1500"/>
          </a:p>
          <a:p>
            <a:pPr indent="-323850" lvl="0" marL="457200" rtl="0" algn="l">
              <a:lnSpc>
                <a:spcPct val="115000"/>
              </a:lnSpc>
              <a:spcBef>
                <a:spcPts val="0"/>
              </a:spcBef>
              <a:spcAft>
                <a:spcPts val="0"/>
              </a:spcAft>
              <a:buSzPts val="1500"/>
              <a:buChar char="●"/>
            </a:pPr>
            <a:r>
              <a:rPr b="1" lang="en-US" sz="1500">
                <a:solidFill>
                  <a:schemeClr val="lt1"/>
                </a:solidFill>
                <a:highlight>
                  <a:schemeClr val="accent1"/>
                </a:highlight>
              </a:rPr>
              <a:t>Solution</a:t>
            </a:r>
            <a:r>
              <a:rPr b="1" lang="en-US" sz="1500"/>
              <a:t>: To manage this, filtering techniques can be applied:</a:t>
            </a:r>
            <a:endParaRPr b="1" sz="1500"/>
          </a:p>
          <a:p>
            <a:pPr indent="-323850" lvl="1" marL="914400" rtl="0" algn="l">
              <a:lnSpc>
                <a:spcPct val="115000"/>
              </a:lnSpc>
              <a:spcBef>
                <a:spcPts val="0"/>
              </a:spcBef>
              <a:spcAft>
                <a:spcPts val="0"/>
              </a:spcAft>
              <a:buSzPts val="1500"/>
              <a:buChar char="○"/>
            </a:pPr>
            <a:r>
              <a:rPr b="1" lang="en-US" sz="1500"/>
              <a:t>Lift: Prioritize rules where the lift value exceeds 1, indicating a significant relationship. For example:</a:t>
            </a:r>
            <a:endParaRPr b="1" sz="1500"/>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{Milk, Bread} → {Butter}</a:t>
            </a:r>
            <a:r>
              <a:rPr b="1" lang="en-US" sz="1500"/>
              <a:t> with Lift = 1.5 is more meaningful than a rule with Lift = 0.8.</a:t>
            </a:r>
            <a:endParaRPr b="1" sz="1500"/>
          </a:p>
          <a:p>
            <a:pPr indent="0" lvl="0" marL="91440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None/>
            </a:pPr>
            <a:r>
              <a:t/>
            </a:r>
            <a:endParaRPr b="1" sz="1300">
              <a:solidFill>
                <a:srgbClr val="188038"/>
              </a:solidFill>
              <a:latin typeface="Roboto Mono"/>
              <a:ea typeface="Roboto Mono"/>
              <a:cs typeface="Roboto Mono"/>
              <a:sym typeface="Roboto Mono"/>
            </a:endParaRPr>
          </a:p>
          <a:p>
            <a:pPr indent="0" lvl="0" marL="0" rtl="0" algn="l">
              <a:spcBef>
                <a:spcPts val="1200"/>
              </a:spcBef>
              <a:spcAft>
                <a:spcPts val="0"/>
              </a:spcAft>
              <a:buNone/>
            </a:pPr>
            <a:r>
              <a:t/>
            </a:r>
            <a:endParaRPr sz="1300"/>
          </a:p>
        </p:txBody>
      </p:sp>
      <p:sp>
        <p:nvSpPr>
          <p:cNvPr id="147" name="Google Shape;147;g315ece4b4b7_0_33"/>
          <p:cNvSpPr txBox="1"/>
          <p:nvPr>
            <p:ph idx="2" type="body"/>
          </p:nvPr>
        </p:nvSpPr>
        <p:spPr>
          <a:xfrm>
            <a:off x="6096000" y="1832575"/>
            <a:ext cx="6314400" cy="41610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500">
                <a:solidFill>
                  <a:schemeClr val="accent1"/>
                </a:solidFill>
                <a:highlight>
                  <a:schemeClr val="accent2"/>
                </a:highlight>
              </a:rPr>
              <a:t>2. Redundant or Obvious Rules</a:t>
            </a:r>
            <a:endParaRPr b="1" sz="1500">
              <a:solidFill>
                <a:schemeClr val="accent1"/>
              </a:solidFill>
              <a:highlight>
                <a:schemeClr val="accent2"/>
              </a:highlight>
            </a:endParaRPr>
          </a:p>
          <a:p>
            <a:pPr indent="-323850" lvl="0" marL="457200" rtl="0" algn="l">
              <a:lnSpc>
                <a:spcPct val="115000"/>
              </a:lnSpc>
              <a:spcBef>
                <a:spcPts val="1200"/>
              </a:spcBef>
              <a:spcAft>
                <a:spcPts val="0"/>
              </a:spcAft>
              <a:buSzPts val="1500"/>
              <a:buChar char="●"/>
            </a:pPr>
            <a:r>
              <a:rPr b="1" lang="en-US" sz="1500">
                <a:solidFill>
                  <a:schemeClr val="lt2"/>
                </a:solidFill>
                <a:highlight>
                  <a:schemeClr val="accent2"/>
                </a:highlight>
              </a:rPr>
              <a:t>Challenge: Many rules might be redundant or intuitively </a:t>
            </a:r>
            <a:r>
              <a:rPr b="1" lang="en-US" sz="1500">
                <a:solidFill>
                  <a:schemeClr val="lt2"/>
                </a:solidFill>
                <a:highlight>
                  <a:schemeClr val="accent2"/>
                </a:highlight>
              </a:rPr>
              <a:t>obvious, offering no new insights</a:t>
            </a:r>
            <a:r>
              <a:rPr b="1" lang="en-US" sz="1500"/>
              <a:t>. For example:</a:t>
            </a:r>
            <a:endParaRPr b="1" sz="1500"/>
          </a:p>
          <a:p>
            <a:pPr indent="-323850" lvl="1" marL="9144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{Milk} → {Bread}</a:t>
            </a:r>
            <a:r>
              <a:rPr b="1" lang="en-US" sz="1500"/>
              <a:t> is trivial in a grocery store context because these items are commonly bought together.</a:t>
            </a:r>
            <a:endParaRPr b="1" sz="1500"/>
          </a:p>
          <a:p>
            <a:pPr indent="-323850" lvl="1" marL="914400" rtl="0" algn="l">
              <a:lnSpc>
                <a:spcPct val="115000"/>
              </a:lnSpc>
              <a:spcBef>
                <a:spcPts val="0"/>
              </a:spcBef>
              <a:spcAft>
                <a:spcPts val="0"/>
              </a:spcAft>
              <a:buSzPts val="1500"/>
              <a:buChar char="○"/>
            </a:pPr>
            <a:r>
              <a:rPr b="1" lang="en-US" sz="1500"/>
              <a:t>Redundancy arises when rules are subsets of larger, more comprehensive rules:</a:t>
            </a:r>
            <a:endParaRPr b="1" sz="1500"/>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{Milk, Bread} → {Butter}</a:t>
            </a:r>
            <a:endParaRPr b="1" sz="1500">
              <a:solidFill>
                <a:srgbClr val="188038"/>
              </a:solidFill>
              <a:latin typeface="Roboto Mono"/>
              <a:ea typeface="Roboto Mono"/>
              <a:cs typeface="Roboto Mono"/>
              <a:sym typeface="Roboto Mono"/>
            </a:endParaRPr>
          </a:p>
          <a:p>
            <a:pPr indent="-323850" lvl="2" marL="1371600" rtl="0" algn="l">
              <a:lnSpc>
                <a:spcPct val="115000"/>
              </a:lnSpc>
              <a:spcBef>
                <a:spcPts val="0"/>
              </a:spcBef>
              <a:spcAft>
                <a:spcPts val="0"/>
              </a:spcAft>
              <a:buSzPts val="1500"/>
              <a:buChar char="■"/>
            </a:pPr>
            <a:r>
              <a:rPr b="1" lang="en-US" sz="1500">
                <a:solidFill>
                  <a:srgbClr val="188038"/>
                </a:solidFill>
                <a:latin typeface="Roboto Mono"/>
                <a:ea typeface="Roboto Mono"/>
                <a:cs typeface="Roboto Mono"/>
                <a:sym typeface="Roboto Mono"/>
              </a:rPr>
              <a:t>{Bread} → {Butter}</a:t>
            </a:r>
            <a:endParaRPr b="1" sz="1500">
              <a:solidFill>
                <a:srgbClr val="188038"/>
              </a:solidFill>
              <a:latin typeface="Roboto Mono"/>
              <a:ea typeface="Roboto Mono"/>
              <a:cs typeface="Roboto Mono"/>
              <a:sym typeface="Roboto Mono"/>
            </a:endParaRPr>
          </a:p>
          <a:p>
            <a:pPr indent="-323850" lvl="0" marL="457200" rtl="0" algn="l">
              <a:lnSpc>
                <a:spcPct val="115000"/>
              </a:lnSpc>
              <a:spcBef>
                <a:spcPts val="0"/>
              </a:spcBef>
              <a:spcAft>
                <a:spcPts val="0"/>
              </a:spcAft>
              <a:buSzPts val="1500"/>
              <a:buChar char="●"/>
            </a:pPr>
            <a:r>
              <a:rPr b="1" lang="en-US" sz="1500">
                <a:solidFill>
                  <a:schemeClr val="lt1"/>
                </a:solidFill>
                <a:highlight>
                  <a:srgbClr val="1B3A83"/>
                </a:highlight>
              </a:rPr>
              <a:t>Solution</a:t>
            </a:r>
            <a:r>
              <a:rPr b="1" lang="en-US" sz="1500"/>
              <a:t>: Advanced pruning strategies are necessary to eliminate such redundancies:</a:t>
            </a:r>
            <a:endParaRPr b="1" sz="1500"/>
          </a:p>
          <a:p>
            <a:pPr indent="-323850" lvl="1" marL="914400" rtl="0" algn="l">
              <a:lnSpc>
                <a:spcPct val="115000"/>
              </a:lnSpc>
              <a:spcBef>
                <a:spcPts val="0"/>
              </a:spcBef>
              <a:spcAft>
                <a:spcPts val="0"/>
              </a:spcAft>
              <a:buSzPts val="1500"/>
              <a:buChar char="○"/>
            </a:pPr>
            <a:r>
              <a:rPr b="1" lang="en-US" sz="1500"/>
              <a:t>Chi-Square Testing: Measure the statistical significance of each rule, retaining only those with p-values below a certain threshold.</a:t>
            </a:r>
            <a:endParaRPr b="1" sz="1500"/>
          </a:p>
          <a:p>
            <a:pPr indent="-323850" lvl="1" marL="914400" rtl="0" algn="l">
              <a:lnSpc>
                <a:spcPct val="115000"/>
              </a:lnSpc>
              <a:spcBef>
                <a:spcPts val="0"/>
              </a:spcBef>
              <a:spcAft>
                <a:spcPts val="0"/>
              </a:spcAft>
              <a:buSzPts val="1500"/>
              <a:buChar char="○"/>
            </a:pPr>
            <a:r>
              <a:rPr b="1" lang="en-US" sz="1500"/>
              <a:t>Maximal Frequent Itemsets: Focus on the largest frequent itemsets and derive rules from these, avoiding subsets that add little value.</a:t>
            </a:r>
            <a:endParaRPr b="1" sz="1500"/>
          </a:p>
          <a:p>
            <a:pPr indent="0" lvl="0" marL="0" rtl="0" algn="l">
              <a:spcBef>
                <a:spcPts val="1200"/>
              </a:spcBef>
              <a:spcAft>
                <a:spcPts val="0"/>
              </a:spcAft>
              <a:buNone/>
            </a:pPr>
            <a:r>
              <a:t/>
            </a:r>
            <a:endParaRPr/>
          </a:p>
        </p:txBody>
      </p:sp>
      <p:sp>
        <p:nvSpPr>
          <p:cNvPr id="148" name="Google Shape;148;g315ece4b4b7_0_33"/>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Challenges in Market Basket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15ece4b4b7_0_45"/>
          <p:cNvSpPr txBox="1"/>
          <p:nvPr>
            <p:ph idx="1" type="body"/>
          </p:nvPr>
        </p:nvSpPr>
        <p:spPr>
          <a:xfrm>
            <a:off x="100625" y="1934675"/>
            <a:ext cx="7061100" cy="4610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500">
                <a:solidFill>
                  <a:srgbClr val="1B3A83"/>
                </a:solidFill>
                <a:highlight>
                  <a:schemeClr val="accent2"/>
                </a:highlight>
              </a:rPr>
              <a:t>3. Parameter Sensitivity</a:t>
            </a:r>
            <a:endParaRPr b="1" sz="1500">
              <a:solidFill>
                <a:srgbClr val="1B3A83"/>
              </a:solidFill>
              <a:highlight>
                <a:schemeClr val="accent2"/>
              </a:highlight>
            </a:endParaRPr>
          </a:p>
          <a:p>
            <a:pPr indent="-323850" lvl="0" marL="457200" rtl="0" algn="l">
              <a:lnSpc>
                <a:spcPct val="115000"/>
              </a:lnSpc>
              <a:spcBef>
                <a:spcPts val="1200"/>
              </a:spcBef>
              <a:spcAft>
                <a:spcPts val="0"/>
              </a:spcAft>
              <a:buClr>
                <a:srgbClr val="1B3A83"/>
              </a:buClr>
              <a:buSzPts val="1500"/>
              <a:buChar char="●"/>
            </a:pPr>
            <a:r>
              <a:rPr b="1" lang="en-US" sz="1500">
                <a:solidFill>
                  <a:srgbClr val="1B3A83"/>
                </a:solidFill>
                <a:highlight>
                  <a:schemeClr val="accent2"/>
                </a:highlight>
              </a:rPr>
              <a:t>Challenge: The results of Market Basket Analysis heavily depend on chosen thresholds for support, confidence, and lift:</a:t>
            </a:r>
            <a:endParaRPr b="1" sz="1500">
              <a:solidFill>
                <a:srgbClr val="1B3A83"/>
              </a:solidFill>
              <a:highlight>
                <a:schemeClr val="accent2"/>
              </a:highlight>
            </a:endParaRPr>
          </a:p>
          <a:p>
            <a:pPr indent="-323850" lvl="1" marL="914400" rtl="0" algn="l">
              <a:lnSpc>
                <a:spcPct val="115000"/>
              </a:lnSpc>
              <a:spcBef>
                <a:spcPts val="0"/>
              </a:spcBef>
              <a:spcAft>
                <a:spcPts val="0"/>
              </a:spcAft>
              <a:buSzPts val="1500"/>
              <a:buChar char="○"/>
            </a:pPr>
            <a:r>
              <a:rPr b="1" lang="en-US" sz="1500"/>
              <a:t>Setting a high minimum support might ignore rare but valuable associations. For example, </a:t>
            </a:r>
            <a:r>
              <a:rPr b="1" lang="en-US" sz="1500">
                <a:latin typeface="Roboto Mono"/>
                <a:ea typeface="Roboto Mono"/>
                <a:cs typeface="Roboto Mono"/>
                <a:sym typeface="Roboto Mono"/>
              </a:rPr>
              <a:t>{Luxury Wine, Caviar}</a:t>
            </a:r>
            <a:r>
              <a:rPr b="1" lang="en-US" sz="1500"/>
              <a:t> might appear infrequently but could provide crucial insights for high-end customers.</a:t>
            </a:r>
            <a:endParaRPr b="1" sz="1500"/>
          </a:p>
          <a:p>
            <a:pPr indent="-323850" lvl="1" marL="914400" rtl="0" algn="l">
              <a:lnSpc>
                <a:spcPct val="115000"/>
              </a:lnSpc>
              <a:spcBef>
                <a:spcPts val="0"/>
              </a:spcBef>
              <a:spcAft>
                <a:spcPts val="0"/>
              </a:spcAft>
              <a:buSzPts val="1500"/>
              <a:buChar char="○"/>
            </a:pPr>
            <a:r>
              <a:rPr b="1" lang="en-US" sz="1500"/>
              <a:t>Low confidence thresholds might introduce irrelevant rules, reducing trust in the analysis.</a:t>
            </a:r>
            <a:endParaRPr b="1" sz="1500"/>
          </a:p>
          <a:p>
            <a:pPr indent="-323850" lvl="0" marL="457200" rtl="0" algn="l">
              <a:lnSpc>
                <a:spcPct val="115000"/>
              </a:lnSpc>
              <a:spcBef>
                <a:spcPts val="0"/>
              </a:spcBef>
              <a:spcAft>
                <a:spcPts val="0"/>
              </a:spcAft>
              <a:buClr>
                <a:srgbClr val="1B3A83"/>
              </a:buClr>
              <a:buSzPts val="1500"/>
              <a:buChar char="●"/>
            </a:pPr>
            <a:r>
              <a:rPr b="1" lang="en-US" sz="1500">
                <a:solidFill>
                  <a:schemeClr val="lt1"/>
                </a:solidFill>
                <a:highlight>
                  <a:schemeClr val="accent1"/>
                </a:highlight>
              </a:rPr>
              <a:t>Solution</a:t>
            </a:r>
            <a:r>
              <a:rPr b="1" lang="en-US" sz="1500">
                <a:solidFill>
                  <a:srgbClr val="1B3A83"/>
                </a:solidFill>
              </a:rPr>
              <a:t>: </a:t>
            </a:r>
            <a:r>
              <a:rPr b="1" lang="en-US" sz="1500"/>
              <a:t>Experimentation and optimization are key:</a:t>
            </a:r>
            <a:endParaRPr b="1" sz="1500"/>
          </a:p>
          <a:p>
            <a:pPr indent="-323850" lvl="1" marL="914400" rtl="0" algn="l">
              <a:lnSpc>
                <a:spcPct val="115000"/>
              </a:lnSpc>
              <a:spcBef>
                <a:spcPts val="0"/>
              </a:spcBef>
              <a:spcAft>
                <a:spcPts val="0"/>
              </a:spcAft>
              <a:buSzPts val="1500"/>
              <a:buChar char="○"/>
            </a:pPr>
            <a:r>
              <a:rPr b="1" lang="en-US" sz="1500"/>
              <a:t>Grid Search Optimization: Test various combinations of support and confidence thresholds to find the best parameters for the dataset.</a:t>
            </a:r>
            <a:endParaRPr b="1" sz="1500"/>
          </a:p>
          <a:p>
            <a:pPr indent="-323850" lvl="1" marL="914400" rtl="0" algn="l">
              <a:lnSpc>
                <a:spcPct val="115000"/>
              </a:lnSpc>
              <a:spcBef>
                <a:spcPts val="0"/>
              </a:spcBef>
              <a:spcAft>
                <a:spcPts val="0"/>
              </a:spcAft>
              <a:buSzPts val="1500"/>
              <a:buChar char="○"/>
            </a:pPr>
            <a:r>
              <a:rPr b="1" lang="en-US" sz="1500"/>
              <a:t>Domain Expertise: Adjust thresholds based on the dataset context. For instance, in luxury retail, focus on high-value but infrequent transactions, lowering support while maintaining high confidence.</a:t>
            </a:r>
            <a:endParaRPr b="1" sz="1500"/>
          </a:p>
          <a:p>
            <a:pPr indent="0" lvl="0" marL="0" rtl="0" algn="l">
              <a:spcBef>
                <a:spcPts val="1200"/>
              </a:spcBef>
              <a:spcAft>
                <a:spcPts val="0"/>
              </a:spcAft>
              <a:buNone/>
            </a:pPr>
            <a:r>
              <a:t/>
            </a:r>
            <a:endParaRPr sz="2500"/>
          </a:p>
        </p:txBody>
      </p:sp>
      <p:sp>
        <p:nvSpPr>
          <p:cNvPr id="155" name="Google Shape;155;g315ece4b4b7_0_45"/>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US"/>
              <a:t>Challenges in Market Basket Analysis</a:t>
            </a:r>
            <a:endParaRPr/>
          </a:p>
        </p:txBody>
      </p:sp>
      <p:sp>
        <p:nvSpPr>
          <p:cNvPr id="156" name="Google Shape;156;g315ece4b4b7_0_45"/>
          <p:cNvSpPr txBox="1"/>
          <p:nvPr/>
        </p:nvSpPr>
        <p:spPr>
          <a:xfrm>
            <a:off x="7161725" y="2166150"/>
            <a:ext cx="4838100" cy="4146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rgbClr val="1B3A83"/>
              </a:buClr>
              <a:buSzPts val="1500"/>
              <a:buChar char="●"/>
            </a:pPr>
            <a:r>
              <a:rPr b="1" lang="en-US" sz="1500">
                <a:solidFill>
                  <a:srgbClr val="1B3A83"/>
                </a:solidFill>
                <a:highlight>
                  <a:schemeClr val="accent2"/>
                </a:highlight>
              </a:rPr>
              <a:t>Challenge: Lift measures how much more likely an association is compared to random chance. A low lift (e.g., close to 1) might indicate weak or coincidental relationships.</a:t>
            </a:r>
            <a:endParaRPr b="1" sz="1500">
              <a:solidFill>
                <a:srgbClr val="1B3A83"/>
              </a:solidFill>
              <a:highlight>
                <a:schemeClr val="accent2"/>
              </a:highlight>
            </a:endParaRPr>
          </a:p>
          <a:p>
            <a:pPr indent="-323850" lvl="1" marL="914400" rtl="0" algn="l">
              <a:lnSpc>
                <a:spcPct val="115000"/>
              </a:lnSpc>
              <a:spcBef>
                <a:spcPts val="0"/>
              </a:spcBef>
              <a:spcAft>
                <a:spcPts val="0"/>
              </a:spcAft>
              <a:buClr>
                <a:schemeClr val="dk1"/>
              </a:buClr>
              <a:buSzPts val="1500"/>
              <a:buChar char="○"/>
            </a:pPr>
            <a:r>
              <a:rPr b="1" lang="en-US" sz="1500">
                <a:solidFill>
                  <a:schemeClr val="dk1"/>
                </a:solidFill>
              </a:rPr>
              <a:t>For instance:</a:t>
            </a:r>
            <a:endParaRPr b="1" sz="1500">
              <a:solidFill>
                <a:schemeClr val="dk1"/>
              </a:solidFill>
            </a:endParaRPr>
          </a:p>
          <a:p>
            <a:pPr indent="-323850" lvl="2" marL="1371600" rtl="0" algn="l">
              <a:lnSpc>
                <a:spcPct val="115000"/>
              </a:lnSpc>
              <a:spcBef>
                <a:spcPts val="0"/>
              </a:spcBef>
              <a:spcAft>
                <a:spcPts val="0"/>
              </a:spcAft>
              <a:buClr>
                <a:schemeClr val="dk1"/>
              </a:buClr>
              <a:buSzPts val="1500"/>
              <a:buChar char="■"/>
            </a:pPr>
            <a:r>
              <a:rPr b="1" lang="en-US" sz="1500">
                <a:solidFill>
                  <a:srgbClr val="188038"/>
                </a:solidFill>
                <a:latin typeface="Roboto Mono"/>
                <a:ea typeface="Roboto Mono"/>
                <a:cs typeface="Roboto Mono"/>
                <a:sym typeface="Roboto Mono"/>
              </a:rPr>
              <a:t>{Milk} → {Bread}</a:t>
            </a:r>
            <a:r>
              <a:rPr b="1" lang="en-US" sz="1500">
                <a:solidFill>
                  <a:schemeClr val="dk1"/>
                </a:solidFill>
              </a:rPr>
              <a:t> might have high confidence but a lift close to 1, suggesting it doesn’t occur much more frequently than expected by chance.</a:t>
            </a:r>
            <a:endParaRPr b="1" sz="1500">
              <a:solidFill>
                <a:schemeClr val="dk1"/>
              </a:solidFill>
            </a:endParaRPr>
          </a:p>
          <a:p>
            <a:pPr indent="-323850" lvl="0" marL="457200" rtl="0" algn="l">
              <a:lnSpc>
                <a:spcPct val="115000"/>
              </a:lnSpc>
              <a:spcBef>
                <a:spcPts val="0"/>
              </a:spcBef>
              <a:spcAft>
                <a:spcPts val="0"/>
              </a:spcAft>
              <a:buClr>
                <a:schemeClr val="lt1"/>
              </a:buClr>
              <a:buSzPts val="1500"/>
              <a:buChar char="●"/>
            </a:pPr>
            <a:r>
              <a:rPr b="1" lang="en-US" sz="1500">
                <a:solidFill>
                  <a:schemeClr val="lt1"/>
                </a:solidFill>
                <a:highlight>
                  <a:schemeClr val="lt2"/>
                </a:highlight>
              </a:rPr>
              <a:t>Solution:</a:t>
            </a:r>
            <a:endParaRPr b="1" sz="1500">
              <a:solidFill>
                <a:schemeClr val="lt1"/>
              </a:solidFill>
              <a:highlight>
                <a:schemeClr val="lt2"/>
              </a:highlight>
            </a:endParaRPr>
          </a:p>
          <a:p>
            <a:pPr indent="-323850" lvl="1" marL="914400" rtl="0" algn="l">
              <a:lnSpc>
                <a:spcPct val="115000"/>
              </a:lnSpc>
              <a:spcBef>
                <a:spcPts val="0"/>
              </a:spcBef>
              <a:spcAft>
                <a:spcPts val="0"/>
              </a:spcAft>
              <a:buClr>
                <a:schemeClr val="dk1"/>
              </a:buClr>
              <a:buSzPts val="1500"/>
              <a:buChar char="○"/>
            </a:pPr>
            <a:r>
              <a:rPr b="1" lang="en-US" sz="1500">
                <a:solidFill>
                  <a:schemeClr val="dk1"/>
                </a:solidFill>
              </a:rPr>
              <a:t>Set lift thresholds: Introduce a minimum lift parameter (e.g., Lift &gt; 1.2) to filter out statistically weak relationships.</a:t>
            </a:r>
            <a:endParaRPr b="1" sz="1500">
              <a:solidFill>
                <a:schemeClr val="dk1"/>
              </a:solidFill>
            </a:endParaRPr>
          </a:p>
          <a:p>
            <a:pPr indent="0" lvl="0" marL="0" rtl="0" algn="l">
              <a:spcBef>
                <a:spcPts val="1200"/>
              </a:spcBef>
              <a:spcAft>
                <a:spcPts val="0"/>
              </a:spcAft>
              <a:buNone/>
            </a:pPr>
            <a:r>
              <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d5b737e132_0_0"/>
          <p:cNvSpPr txBox="1"/>
          <p:nvPr>
            <p:ph idx="1" type="body"/>
          </p:nvPr>
        </p:nvSpPr>
        <p:spPr>
          <a:xfrm>
            <a:off x="0" y="1843075"/>
            <a:ext cx="6096000" cy="50148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US" sz="2000">
                <a:solidFill>
                  <a:schemeClr val="accent1"/>
                </a:solidFill>
                <a:highlight>
                  <a:schemeClr val="accent2"/>
                </a:highlight>
              </a:rPr>
              <a:t>Network-Based Analysis</a:t>
            </a:r>
            <a:r>
              <a:rPr lang="en-US" sz="2000">
                <a:solidFill>
                  <a:schemeClr val="accent1"/>
                </a:solidFill>
                <a:highlight>
                  <a:schemeClr val="accent2"/>
                </a:highlight>
              </a:rPr>
              <a:t>: Modeling transactions as a product network to identify communities.</a:t>
            </a:r>
            <a:endParaRPr sz="2000">
              <a:solidFill>
                <a:schemeClr val="accent1"/>
              </a:solidFill>
              <a:highlight>
                <a:schemeClr val="accent2"/>
              </a:highlight>
            </a:endParaRPr>
          </a:p>
          <a:p>
            <a:pPr indent="0" lvl="0" marL="0" rtl="0" algn="l">
              <a:lnSpc>
                <a:spcPct val="150000"/>
              </a:lnSpc>
              <a:spcBef>
                <a:spcPts val="1200"/>
              </a:spcBef>
              <a:spcAft>
                <a:spcPts val="0"/>
              </a:spcAft>
              <a:buNone/>
            </a:pPr>
            <a:r>
              <a:rPr lang="en-US" sz="1900">
                <a:highlight>
                  <a:schemeClr val="lt1"/>
                </a:highlight>
              </a:rPr>
              <a:t>A Product Network is a model where a vertex represents a product and an edge represents a relationship between them in a dataset.</a:t>
            </a:r>
            <a:endParaRPr sz="1900">
              <a:highlight>
                <a:schemeClr val="lt1"/>
              </a:highlight>
            </a:endParaRPr>
          </a:p>
          <a:p>
            <a:pPr indent="0" lvl="0" marL="0" rtl="0" algn="l">
              <a:lnSpc>
                <a:spcPct val="150000"/>
              </a:lnSpc>
              <a:spcBef>
                <a:spcPts val="1200"/>
              </a:spcBef>
              <a:spcAft>
                <a:spcPts val="0"/>
              </a:spcAft>
              <a:buNone/>
            </a:pPr>
            <a:r>
              <a:rPr lang="en-US" sz="1900">
                <a:highlight>
                  <a:schemeClr val="lt1"/>
                </a:highlight>
              </a:rPr>
              <a:t>The aim is to detect a pattern in which the customers will buy additional products if we promote the #1 product. This plan can be implemented by applying a discount strategy for product #1 or putting it on the same shelf or page of brochure with the other products we want to sale.</a:t>
            </a:r>
            <a:endParaRPr sz="2200">
              <a:highlight>
                <a:schemeClr val="lt1"/>
              </a:highlight>
            </a:endParaRPr>
          </a:p>
          <a:p>
            <a:pPr indent="0" lvl="0" marL="0" rtl="0" algn="l">
              <a:lnSpc>
                <a:spcPct val="150000"/>
              </a:lnSpc>
              <a:spcBef>
                <a:spcPts val="1200"/>
              </a:spcBef>
              <a:spcAft>
                <a:spcPts val="1200"/>
              </a:spcAft>
              <a:buNone/>
            </a:pPr>
            <a:r>
              <a:t/>
            </a:r>
            <a:endParaRPr sz="1500">
              <a:solidFill>
                <a:schemeClr val="accent1"/>
              </a:solidFill>
              <a:highlight>
                <a:schemeClr val="accent2"/>
              </a:highlight>
            </a:endParaRPr>
          </a:p>
        </p:txBody>
      </p:sp>
      <p:sp>
        <p:nvSpPr>
          <p:cNvPr id="163" name="Google Shape;163;g2d5b737e132_0_0"/>
          <p:cNvSpPr txBox="1"/>
          <p:nvPr>
            <p:ph idx="2" type="body"/>
          </p:nvPr>
        </p:nvSpPr>
        <p:spPr>
          <a:xfrm>
            <a:off x="6172200" y="1843075"/>
            <a:ext cx="5938800" cy="5014800"/>
          </a:xfrm>
          <a:prstGeom prst="rect">
            <a:avLst/>
          </a:prstGeom>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US" sz="2000">
                <a:solidFill>
                  <a:schemeClr val="accent1"/>
                </a:solidFill>
                <a:highlight>
                  <a:schemeClr val="accent2"/>
                </a:highlight>
              </a:rPr>
              <a:t>Community Detection</a:t>
            </a:r>
            <a:r>
              <a:rPr lang="en-US" sz="2000">
                <a:solidFill>
                  <a:schemeClr val="accent1"/>
                </a:solidFill>
                <a:highlight>
                  <a:schemeClr val="accent2"/>
                </a:highlight>
              </a:rPr>
              <a:t>: Finding clusters of products bought together to improve analysis.</a:t>
            </a:r>
            <a:endParaRPr sz="2000">
              <a:solidFill>
                <a:schemeClr val="accent1"/>
              </a:solidFill>
              <a:highlight>
                <a:schemeClr val="accent2"/>
              </a:highlight>
            </a:endParaRPr>
          </a:p>
          <a:p>
            <a:pPr indent="0" lvl="0" marL="0" rtl="0" algn="l">
              <a:lnSpc>
                <a:spcPct val="150000"/>
              </a:lnSpc>
              <a:spcBef>
                <a:spcPts val="1200"/>
              </a:spcBef>
              <a:spcAft>
                <a:spcPts val="0"/>
              </a:spcAft>
              <a:buNone/>
            </a:pPr>
            <a:r>
              <a:rPr lang="en-US" sz="1900">
                <a:highlight>
                  <a:schemeClr val="lt1"/>
                </a:highlight>
              </a:rPr>
              <a:t>Community detection is the process of grouping nodes in a network based on their internal connections, with the goal of finding clusters that are more densely connected internally than externally.</a:t>
            </a:r>
            <a:endParaRPr sz="1900">
              <a:highlight>
                <a:schemeClr val="lt1"/>
              </a:highlight>
            </a:endParaRPr>
          </a:p>
          <a:p>
            <a:pPr indent="0" lvl="0" marL="0" rtl="0" algn="l">
              <a:lnSpc>
                <a:spcPct val="150000"/>
              </a:lnSpc>
              <a:spcBef>
                <a:spcPts val="1200"/>
              </a:spcBef>
              <a:spcAft>
                <a:spcPts val="1200"/>
              </a:spcAft>
              <a:buNone/>
            </a:pPr>
            <a:r>
              <a:rPr lang="en-US" sz="1600">
                <a:highlight>
                  <a:schemeClr val="lt1"/>
                </a:highlight>
              </a:rPr>
              <a:t> </a:t>
            </a:r>
            <a:r>
              <a:rPr lang="en-US" sz="1900">
                <a:highlight>
                  <a:schemeClr val="lt1"/>
                </a:highlight>
              </a:rPr>
              <a:t>Community detection can be either centralized or distributed, depending on whether the whole network graph is required or only a part of it is required by the entity that performs the community detection</a:t>
            </a:r>
            <a:endParaRPr sz="2200">
              <a:highlight>
                <a:schemeClr val="lt1"/>
              </a:highlight>
            </a:endParaRPr>
          </a:p>
        </p:txBody>
      </p:sp>
      <p:sp>
        <p:nvSpPr>
          <p:cNvPr id="164" name="Google Shape;164;g2d5b737e132_0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457200" rtl="0" algn="l">
              <a:lnSpc>
                <a:spcPct val="115000"/>
              </a:lnSpc>
              <a:spcBef>
                <a:spcPts val="0"/>
              </a:spcBef>
              <a:spcAft>
                <a:spcPts val="1200"/>
              </a:spcAft>
              <a:buNone/>
            </a:pPr>
            <a:r>
              <a:rPr lang="en-US">
                <a:solidFill>
                  <a:schemeClr val="accent2"/>
                </a:solidFill>
              </a:rPr>
              <a:t>             Alternative Approaches</a:t>
            </a:r>
            <a:endParaRPr>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d5b737e132_0_10"/>
          <p:cNvSpPr txBox="1"/>
          <p:nvPr>
            <p:ph idx="1" type="body"/>
          </p:nvPr>
        </p:nvSpPr>
        <p:spPr>
          <a:xfrm>
            <a:off x="0" y="2007175"/>
            <a:ext cx="5257800" cy="5142600"/>
          </a:xfrm>
          <a:prstGeom prst="rect">
            <a:avLst/>
          </a:prstGeom>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lang="en-US" sz="1800">
                <a:highlight>
                  <a:schemeClr val="lt1"/>
                </a:highlight>
              </a:rPr>
              <a:t>By modeling the data as a </a:t>
            </a:r>
            <a:r>
              <a:rPr i="1" lang="en-US" sz="1800">
                <a:highlight>
                  <a:schemeClr val="lt1"/>
                </a:highlight>
              </a:rPr>
              <a:t>product network</a:t>
            </a:r>
            <a:r>
              <a:rPr lang="en-US" sz="1800">
                <a:highlight>
                  <a:schemeClr val="lt1"/>
                </a:highlight>
              </a:rPr>
              <a:t>, we discover expressive communities (clusters) in the data, which can then be targeted for further analysis. We demonstrate that our network based approach can concisely isolate influence among products, mitigating the need to search through massive lists of association rules. We develop an interestingness measure for communities of products and show that it isolates useful, actionable communities. Finally, we build upon our experience with product networks to propose a comprehensive analysis strategy by combining both traditional and network-based techniques. This framework is capable of generating insights that are difficult to achieve with traditional analysis methods.</a:t>
            </a:r>
            <a:endParaRPr sz="1800">
              <a:highlight>
                <a:schemeClr val="lt1"/>
              </a:highlight>
            </a:endParaRPr>
          </a:p>
        </p:txBody>
      </p:sp>
      <p:sp>
        <p:nvSpPr>
          <p:cNvPr id="171" name="Google Shape;171;g2d5b737e132_0_10"/>
          <p:cNvSpPr txBox="1"/>
          <p:nvPr>
            <p:ph idx="2" type="body"/>
          </p:nvPr>
        </p:nvSpPr>
        <p:spPr>
          <a:xfrm>
            <a:off x="6172200" y="2007163"/>
            <a:ext cx="52578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172" name="Google Shape;172;g2d5b737e132_0_1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Network-Based Analysis</a:t>
            </a:r>
            <a:endParaRPr/>
          </a:p>
        </p:txBody>
      </p:sp>
      <p:pic>
        <p:nvPicPr>
          <p:cNvPr id="173" name="Google Shape;173;g2d5b737e132_0_10"/>
          <p:cNvPicPr preferRelativeResize="0"/>
          <p:nvPr/>
        </p:nvPicPr>
        <p:blipFill>
          <a:blip r:embed="rId3">
            <a:alphaModFix/>
          </a:blip>
          <a:stretch>
            <a:fillRect/>
          </a:stretch>
        </p:blipFill>
        <p:spPr>
          <a:xfrm>
            <a:off x="5257800" y="1878650"/>
            <a:ext cx="6823051" cy="5271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d5b737e132_0_17"/>
          <p:cNvSpPr txBox="1"/>
          <p:nvPr>
            <p:ph idx="1" type="body"/>
          </p:nvPr>
        </p:nvSpPr>
        <p:spPr>
          <a:xfrm>
            <a:off x="0" y="1879500"/>
            <a:ext cx="5181600" cy="4978500"/>
          </a:xfrm>
          <a:prstGeom prst="rect">
            <a:avLst/>
          </a:prstGeom>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rPr lang="en-US" sz="1600">
                <a:highlight>
                  <a:schemeClr val="lt1"/>
                </a:highlight>
              </a:rPr>
              <a:t>Community detection is a fundamental problem in </a:t>
            </a:r>
            <a:r>
              <a:rPr lang="en-US" sz="1600" u="sng">
                <a:highlight>
                  <a:schemeClr val="lt1"/>
                </a:highlight>
                <a:hlinkClick r:id="rId3"/>
              </a:rPr>
              <a:t>social network analysis</a:t>
            </a:r>
            <a:r>
              <a:rPr lang="en-US" sz="1600">
                <a:highlight>
                  <a:schemeClr val="lt1"/>
                </a:highlight>
              </a:rPr>
              <a:t> consisting, roughly speaking, in unsupervised dividing social actors (modeled as nodes in a social graph) with certain social connections (modeled as edges in the social graph) into densely knitted and highly related groups with each group well separated from the others.</a:t>
            </a:r>
            <a:endParaRPr sz="1600">
              <a:highlight>
                <a:schemeClr val="lt1"/>
              </a:highlight>
            </a:endParaRPr>
          </a:p>
          <a:p>
            <a:pPr indent="0" lvl="0" marL="0" rtl="0" algn="l">
              <a:lnSpc>
                <a:spcPct val="150000"/>
              </a:lnSpc>
              <a:spcBef>
                <a:spcPts val="1000"/>
              </a:spcBef>
              <a:spcAft>
                <a:spcPts val="0"/>
              </a:spcAft>
              <a:buNone/>
            </a:pPr>
            <a:r>
              <a:rPr lang="en-US" sz="1600">
                <a:highlight>
                  <a:schemeClr val="lt1"/>
                </a:highlight>
              </a:rPr>
              <a:t>Community detection can be used in machine learning to detect groups with similar properties and extract groups for various reasons. For example, this technique can be used to discover manipulative groups inside a social network or a stock market.</a:t>
            </a:r>
            <a:endParaRPr sz="1600">
              <a:highlight>
                <a:schemeClr val="lt1"/>
              </a:highlight>
            </a:endParaRPr>
          </a:p>
        </p:txBody>
      </p:sp>
      <p:sp>
        <p:nvSpPr>
          <p:cNvPr id="180" name="Google Shape;180;g2d5b737e132_0_17"/>
          <p:cNvSpPr txBox="1"/>
          <p:nvPr>
            <p:ph idx="2" type="body"/>
          </p:nvPr>
        </p:nvSpPr>
        <p:spPr>
          <a:xfrm>
            <a:off x="6172200" y="2007163"/>
            <a:ext cx="52578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181" name="Google Shape;181;g2d5b737e132_0_17"/>
          <p:cNvSpPr txBox="1"/>
          <p:nvPr>
            <p:ph type="title"/>
          </p:nvPr>
        </p:nvSpPr>
        <p:spPr>
          <a:xfrm>
            <a:off x="838200" y="304799"/>
            <a:ext cx="10515600" cy="885600"/>
          </a:xfrm>
          <a:prstGeom prst="rect">
            <a:avLst/>
          </a:prstGeom>
        </p:spPr>
        <p:txBody>
          <a:bodyPr anchorCtr="0" anchor="t" bIns="45700" lIns="91425" spcFirstLastPara="1" rIns="91425" wrap="square" tIns="45700">
            <a:noAutofit/>
          </a:bodyPr>
          <a:lstStyle/>
          <a:p>
            <a:pPr indent="0" lvl="0" marL="2286000" rtl="0" algn="l">
              <a:spcBef>
                <a:spcPts val="1000"/>
              </a:spcBef>
              <a:spcAft>
                <a:spcPts val="0"/>
              </a:spcAft>
              <a:buClr>
                <a:schemeClr val="dk1"/>
              </a:buClr>
              <a:buSzPts val="1100"/>
              <a:buFont typeface="Arial"/>
              <a:buNone/>
            </a:pPr>
            <a:r>
              <a:rPr lang="en-US">
                <a:solidFill>
                  <a:schemeClr val="accent2"/>
                </a:solidFill>
              </a:rPr>
              <a:t>Community Detection</a:t>
            </a:r>
            <a:r>
              <a:rPr b="0" lang="en-US">
                <a:solidFill>
                  <a:schemeClr val="accent2"/>
                </a:solidFill>
                <a:latin typeface="Georgia"/>
                <a:ea typeface="Georgia"/>
                <a:cs typeface="Georgia"/>
                <a:sym typeface="Georgia"/>
              </a:rPr>
              <a:t> </a:t>
            </a:r>
            <a:endParaRPr>
              <a:solidFill>
                <a:schemeClr val="accent2"/>
              </a:solidFill>
            </a:endParaRPr>
          </a:p>
        </p:txBody>
      </p:sp>
      <p:pic>
        <p:nvPicPr>
          <p:cNvPr id="182" name="Google Shape;182;g2d5b737e132_0_17"/>
          <p:cNvPicPr preferRelativeResize="0"/>
          <p:nvPr/>
        </p:nvPicPr>
        <p:blipFill>
          <a:blip r:embed="rId4">
            <a:alphaModFix/>
          </a:blip>
          <a:stretch>
            <a:fillRect/>
          </a:stretch>
        </p:blipFill>
        <p:spPr>
          <a:xfrm>
            <a:off x="4991100" y="1879500"/>
            <a:ext cx="7200900" cy="4978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16737736d7_0_0"/>
          <p:cNvSpPr txBox="1"/>
          <p:nvPr>
            <p:ph idx="1" type="body"/>
          </p:nvPr>
        </p:nvSpPr>
        <p:spPr>
          <a:xfrm>
            <a:off x="0" y="1932700"/>
            <a:ext cx="5860500" cy="49254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1400"/>
              <a:t>grocery_edges &lt;- data.frame(</a:t>
            </a:r>
            <a:endParaRPr sz="1400"/>
          </a:p>
          <a:p>
            <a:pPr indent="0" lvl="0" marL="0" rtl="0" algn="l">
              <a:spcBef>
                <a:spcPts val="1000"/>
              </a:spcBef>
              <a:spcAft>
                <a:spcPts val="0"/>
              </a:spcAft>
              <a:buNone/>
            </a:pPr>
            <a:r>
              <a:rPr lang="en-US" sz="1400"/>
              <a:t>  Source = c("Milk", "Bread", "Milk", "Eggs", "Bread", "Cheese", "Butter", "Eggs", "Cereal", "Bread"),</a:t>
            </a:r>
            <a:endParaRPr sz="1400"/>
          </a:p>
          <a:p>
            <a:pPr indent="0" lvl="0" marL="0" rtl="0" algn="l">
              <a:spcBef>
                <a:spcPts val="1000"/>
              </a:spcBef>
              <a:spcAft>
                <a:spcPts val="0"/>
              </a:spcAft>
              <a:buNone/>
            </a:pPr>
            <a:r>
              <a:rPr lang="en-US" sz="1400"/>
              <a:t>  Target = c("Bread", "Eggs", "Cheese", "Butter", "Butter", "Yogurt", "Yogurt", "Milk", "Milk", "Butter"),</a:t>
            </a:r>
            <a:endParaRPr sz="1400"/>
          </a:p>
          <a:p>
            <a:pPr indent="0" lvl="0" marL="0" rtl="0" algn="l">
              <a:spcBef>
                <a:spcPts val="1000"/>
              </a:spcBef>
              <a:spcAft>
                <a:spcPts val="0"/>
              </a:spcAft>
              <a:buNone/>
            </a:pPr>
            <a:r>
              <a:rPr lang="en-US" sz="1400"/>
              <a:t>  Weight = c(3, 2, 1, 5, 4, 2, 3, 4, 2, 6) )</a:t>
            </a:r>
            <a:endParaRPr sz="1400"/>
          </a:p>
          <a:p>
            <a:pPr indent="0" lvl="0" marL="0" rtl="0" algn="l">
              <a:spcBef>
                <a:spcPts val="1000"/>
              </a:spcBef>
              <a:spcAft>
                <a:spcPts val="0"/>
              </a:spcAft>
              <a:buNone/>
            </a:pPr>
            <a:r>
              <a:rPr lang="en-US" sz="1400"/>
              <a:t>unique_items &lt;- unique(c(grocery_edges$Source, grocery_edges$Target))</a:t>
            </a:r>
            <a:endParaRPr sz="1400"/>
          </a:p>
          <a:p>
            <a:pPr indent="0" lvl="0" marL="0" rtl="0" algn="l">
              <a:spcBef>
                <a:spcPts val="1000"/>
              </a:spcBef>
              <a:spcAft>
                <a:spcPts val="0"/>
              </a:spcAft>
              <a:buNone/>
            </a:pPr>
            <a:r>
              <a:rPr lang="en-US" sz="1400"/>
              <a:t>grocery_prices &lt;- data.frame(</a:t>
            </a:r>
            <a:endParaRPr sz="1400"/>
          </a:p>
          <a:p>
            <a:pPr indent="0" lvl="0" marL="0" rtl="0" algn="l">
              <a:spcBef>
                <a:spcPts val="1000"/>
              </a:spcBef>
              <a:spcAft>
                <a:spcPts val="0"/>
              </a:spcAft>
              <a:buNone/>
            </a:pPr>
            <a:r>
              <a:rPr lang="en-US" sz="1400"/>
              <a:t>  Item = unique_items,</a:t>
            </a:r>
            <a:endParaRPr sz="1400"/>
          </a:p>
          <a:p>
            <a:pPr indent="0" lvl="0" marL="0" rtl="0" algn="l">
              <a:spcBef>
                <a:spcPts val="1000"/>
              </a:spcBef>
              <a:spcAft>
                <a:spcPts val="0"/>
              </a:spcAft>
              <a:buNone/>
            </a:pPr>
            <a:r>
              <a:rPr lang="en-US" sz="1400"/>
              <a:t>  Price = c(2.5, 1.2, 2.0, 0.8, 3.5, 4.0, 3.8)  # Adjust to match the 7 unique items</a:t>
            </a:r>
            <a:endParaRPr sz="1400"/>
          </a:p>
          <a:p>
            <a:pPr indent="0" lvl="0" marL="0" rtl="0" algn="l">
              <a:spcBef>
                <a:spcPts val="1000"/>
              </a:spcBef>
              <a:spcAft>
                <a:spcPts val="0"/>
              </a:spcAft>
              <a:buNone/>
            </a:pPr>
            <a:r>
              <a:rPr lang="en-US" sz="1400"/>
              <a:t>)</a:t>
            </a:r>
            <a:endParaRPr sz="1400"/>
          </a:p>
          <a:p>
            <a:pPr indent="0" lvl="0" marL="0" rtl="0" algn="l">
              <a:spcBef>
                <a:spcPts val="1000"/>
              </a:spcBef>
              <a:spcAft>
                <a:spcPts val="0"/>
              </a:spcAft>
              <a:buNone/>
            </a:pPr>
            <a:r>
              <a:rPr lang="en-US" sz="1400"/>
              <a:t>grocery_graph &lt;- graph_from_data_frame(grocery_edges, directed = FALSE)</a:t>
            </a:r>
            <a:endParaRPr sz="1400"/>
          </a:p>
          <a:p>
            <a:pPr indent="0" lvl="0" marL="0" rtl="0" algn="l">
              <a:spcBef>
                <a:spcPts val="1000"/>
              </a:spcBef>
              <a:spcAft>
                <a:spcPts val="0"/>
              </a:spcAft>
              <a:buNone/>
            </a:pPr>
            <a:r>
              <a:rPr lang="en-US" sz="1400"/>
              <a:t>V(grocery_graph)$price &lt;- grocery_prices$Price[match(V(grocery_graph)$name, grocery_prices$Item)]</a:t>
            </a:r>
            <a:endParaRPr sz="1400"/>
          </a:p>
          <a:p>
            <a:pPr indent="0" lvl="0" marL="0" rtl="0" algn="l">
              <a:spcBef>
                <a:spcPts val="1000"/>
              </a:spcBef>
              <a:spcAft>
                <a:spcPts val="0"/>
              </a:spcAft>
              <a:buClr>
                <a:schemeClr val="dk1"/>
              </a:buClr>
              <a:buSzPts val="1100"/>
              <a:buFont typeface="Arial"/>
              <a:buNone/>
            </a:pPr>
            <a:r>
              <a:t/>
            </a:r>
            <a:endParaRPr sz="1400"/>
          </a:p>
        </p:txBody>
      </p:sp>
      <p:sp>
        <p:nvSpPr>
          <p:cNvPr id="189" name="Google Shape;189;g316737736d7_0_0"/>
          <p:cNvSpPr txBox="1"/>
          <p:nvPr>
            <p:ph idx="2" type="body"/>
          </p:nvPr>
        </p:nvSpPr>
        <p:spPr>
          <a:xfrm>
            <a:off x="5735775" y="1839200"/>
            <a:ext cx="6456300" cy="5018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sz="1000"/>
              <a:t># Create a graph from the edge list</a:t>
            </a:r>
            <a:endParaRPr sz="1000"/>
          </a:p>
          <a:p>
            <a:pPr indent="0" lvl="0" marL="0" rtl="0" algn="l">
              <a:spcBef>
                <a:spcPts val="1000"/>
              </a:spcBef>
              <a:spcAft>
                <a:spcPts val="0"/>
              </a:spcAft>
              <a:buClr>
                <a:schemeClr val="dk1"/>
              </a:buClr>
              <a:buSzPts val="1100"/>
              <a:buFont typeface="Arial"/>
              <a:buNone/>
            </a:pPr>
            <a:r>
              <a:rPr lang="en-US" sz="1000"/>
              <a:t>grocery_graph &lt;- graph_from_data_frame(grocery_edges, directed = FALSE)</a:t>
            </a:r>
            <a:endParaRPr sz="1000"/>
          </a:p>
          <a:p>
            <a:pPr indent="0" lvl="0" marL="0" rtl="0" algn="l">
              <a:spcBef>
                <a:spcPts val="1000"/>
              </a:spcBef>
              <a:spcAft>
                <a:spcPts val="0"/>
              </a:spcAft>
              <a:buClr>
                <a:schemeClr val="dk1"/>
              </a:buClr>
              <a:buSzPts val="1100"/>
              <a:buFont typeface="Arial"/>
              <a:buNone/>
            </a:pPr>
            <a:r>
              <a:rPr lang="en-US" sz="1000"/>
              <a:t>plot(grocery_graph)</a:t>
            </a:r>
            <a:endParaRPr sz="1000"/>
          </a:p>
          <a:p>
            <a:pPr indent="0" lvl="0" marL="0" rtl="0" algn="l">
              <a:spcBef>
                <a:spcPts val="1000"/>
              </a:spcBef>
              <a:spcAft>
                <a:spcPts val="0"/>
              </a:spcAft>
              <a:buNone/>
            </a:pPr>
            <a:r>
              <a:t/>
            </a:r>
            <a:endParaRPr/>
          </a:p>
        </p:txBody>
      </p:sp>
      <p:sp>
        <p:nvSpPr>
          <p:cNvPr id="190" name="Google Shape;190;g316737736d7_0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accent2"/>
                </a:solidFill>
              </a:rPr>
              <a:t>Network-Based Analysis and </a:t>
            </a:r>
            <a:r>
              <a:rPr lang="en-US">
                <a:solidFill>
                  <a:schemeClr val="accent2"/>
                </a:solidFill>
              </a:rPr>
              <a:t>Community Detection in R</a:t>
            </a:r>
            <a:endParaRPr>
              <a:solidFill>
                <a:schemeClr val="accent2"/>
              </a:solidFill>
            </a:endParaRPr>
          </a:p>
        </p:txBody>
      </p:sp>
      <p:pic>
        <p:nvPicPr>
          <p:cNvPr id="191" name="Google Shape;191;g316737736d7_0_0"/>
          <p:cNvPicPr preferRelativeResize="0"/>
          <p:nvPr/>
        </p:nvPicPr>
        <p:blipFill>
          <a:blip r:embed="rId3">
            <a:alphaModFix/>
          </a:blip>
          <a:stretch>
            <a:fillRect/>
          </a:stretch>
        </p:blipFill>
        <p:spPr>
          <a:xfrm>
            <a:off x="5579925" y="2618500"/>
            <a:ext cx="6595650" cy="4239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6737736d7_0_10"/>
          <p:cNvSpPr txBox="1"/>
          <p:nvPr>
            <p:ph idx="1" type="body"/>
          </p:nvPr>
        </p:nvSpPr>
        <p:spPr>
          <a:xfrm>
            <a:off x="0" y="1839200"/>
            <a:ext cx="4551000" cy="4282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 Use the Louvain algorithm</a:t>
            </a:r>
            <a:endParaRPr sz="1600"/>
          </a:p>
          <a:p>
            <a:pPr indent="0" lvl="0" marL="0" rtl="0" algn="l">
              <a:spcBef>
                <a:spcPts val="0"/>
              </a:spcBef>
              <a:spcAft>
                <a:spcPts val="0"/>
              </a:spcAft>
              <a:buNone/>
            </a:pPr>
            <a:r>
              <a:rPr lang="en-US" sz="1600"/>
              <a:t>communities &lt;- cluster_louvain(grocery_graph)</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 Print community memberships</a:t>
            </a:r>
            <a:endParaRPr sz="1600"/>
          </a:p>
          <a:p>
            <a:pPr indent="0" lvl="0" marL="0" rtl="0" algn="l">
              <a:spcBef>
                <a:spcPts val="0"/>
              </a:spcBef>
              <a:spcAft>
                <a:spcPts val="0"/>
              </a:spcAft>
              <a:buNone/>
            </a:pPr>
            <a:r>
              <a:rPr lang="en-US" sz="1600"/>
              <a:t>membership(communities)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200">
                <a:highlight>
                  <a:srgbClr val="FFFFFF"/>
                </a:highlight>
                <a:latin typeface="Courier New"/>
                <a:ea typeface="Courier New"/>
                <a:cs typeface="Courier New"/>
                <a:sym typeface="Courier New"/>
              </a:rPr>
              <a:t>Milk  Bread   Eggs Cheese Butter Cereal Yogurt </a:t>
            </a:r>
            <a:endParaRPr sz="1200">
              <a:highlight>
                <a:srgbClr val="FFFFFF"/>
              </a:highlight>
              <a:latin typeface="Courier New"/>
              <a:ea typeface="Courier New"/>
              <a:cs typeface="Courier New"/>
              <a:sym typeface="Courier New"/>
            </a:endParaRPr>
          </a:p>
          <a:p>
            <a:pPr indent="0" lvl="0" marL="0" rtl="0" algn="l">
              <a:lnSpc>
                <a:spcPct val="120000"/>
              </a:lnSpc>
              <a:spcBef>
                <a:spcPts val="0"/>
              </a:spcBef>
              <a:spcAft>
                <a:spcPts val="0"/>
              </a:spcAft>
              <a:buNone/>
            </a:pPr>
            <a:r>
              <a:rPr lang="en-US" sz="1200">
                <a:highlight>
                  <a:srgbClr val="FFFFFF"/>
                </a:highlight>
                <a:latin typeface="Courier New"/>
                <a:ea typeface="Courier New"/>
                <a:cs typeface="Courier New"/>
                <a:sym typeface="Courier New"/>
              </a:rPr>
              <a:t>     1      2      2      3      2      1      3</a:t>
            </a:r>
            <a:endParaRPr sz="120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Clr>
                <a:schemeClr val="dk1"/>
              </a:buClr>
              <a:buSzPts val="1100"/>
              <a:buFont typeface="Arial"/>
              <a:buNone/>
            </a:pPr>
            <a:r>
              <a:t/>
            </a:r>
            <a:endParaRPr sz="1600"/>
          </a:p>
        </p:txBody>
      </p:sp>
      <p:sp>
        <p:nvSpPr>
          <p:cNvPr id="198" name="Google Shape;198;g316737736d7_0_10"/>
          <p:cNvSpPr txBox="1"/>
          <p:nvPr>
            <p:ph idx="2" type="body"/>
          </p:nvPr>
        </p:nvSpPr>
        <p:spPr>
          <a:xfrm>
            <a:off x="4551225" y="1917125"/>
            <a:ext cx="7641000" cy="4863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600"/>
              <a:t># Visualize communities</a:t>
            </a:r>
            <a:endParaRPr sz="1600"/>
          </a:p>
          <a:p>
            <a:pPr indent="0" lvl="0" marL="0" rtl="0" algn="l">
              <a:spcBef>
                <a:spcPts val="0"/>
              </a:spcBef>
              <a:spcAft>
                <a:spcPts val="0"/>
              </a:spcAft>
              <a:buNone/>
            </a:pPr>
            <a:r>
              <a:rPr lang="en-US" sz="1600"/>
              <a:t>plot(grocery_graph, vertex.color = membership(communities), main = "Grocery Communities")</a:t>
            </a:r>
            <a:endParaRPr sz="1600"/>
          </a:p>
          <a:p>
            <a:pPr indent="0" lvl="0" marL="0" rtl="0" algn="l">
              <a:spcBef>
                <a:spcPts val="0"/>
              </a:spcBef>
              <a:spcAft>
                <a:spcPts val="0"/>
              </a:spcAft>
              <a:buClr>
                <a:schemeClr val="dk1"/>
              </a:buClr>
              <a:buSzPts val="1100"/>
              <a:buFont typeface="Arial"/>
              <a:buNone/>
            </a:pPr>
            <a:r>
              <a:t/>
            </a:r>
            <a:endParaRPr sz="1600"/>
          </a:p>
        </p:txBody>
      </p:sp>
      <p:sp>
        <p:nvSpPr>
          <p:cNvPr id="199" name="Google Shape;199;g316737736d7_0_1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accent2"/>
                </a:solidFill>
              </a:rPr>
              <a:t>Network-Based Analysis and Community Detection in R</a:t>
            </a:r>
            <a:endParaRPr/>
          </a:p>
        </p:txBody>
      </p:sp>
      <p:pic>
        <p:nvPicPr>
          <p:cNvPr id="200" name="Google Shape;200;g316737736d7_0_10"/>
          <p:cNvPicPr preferRelativeResize="0"/>
          <p:nvPr/>
        </p:nvPicPr>
        <p:blipFill>
          <a:blip r:embed="rId3">
            <a:alphaModFix/>
          </a:blip>
          <a:stretch>
            <a:fillRect/>
          </a:stretch>
        </p:blipFill>
        <p:spPr>
          <a:xfrm>
            <a:off x="4348600" y="2649675"/>
            <a:ext cx="7843399" cy="4208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16737736d7_0_21"/>
          <p:cNvSpPr txBox="1"/>
          <p:nvPr>
            <p:ph idx="1" type="body"/>
          </p:nvPr>
        </p:nvSpPr>
        <p:spPr>
          <a:xfrm>
            <a:off x="0" y="1854775"/>
            <a:ext cx="5782500" cy="7014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sz="1500"/>
              <a:t>tidy_grocery_graph &lt;- as_tbl_graph(grocery_graph)</a:t>
            </a:r>
            <a:endParaRPr sz="1500"/>
          </a:p>
          <a:p>
            <a:pPr indent="0" lvl="0" marL="0" rtl="0" algn="l">
              <a:spcBef>
                <a:spcPts val="1000"/>
              </a:spcBef>
              <a:spcAft>
                <a:spcPts val="0"/>
              </a:spcAft>
              <a:buClr>
                <a:schemeClr val="dk1"/>
              </a:buClr>
              <a:buSzPts val="1100"/>
              <a:buFont typeface="Arial"/>
              <a:buNone/>
            </a:pPr>
            <a:r>
              <a:rPr lang="en-US" sz="1500"/>
              <a:t># Visualize with ggraph</a:t>
            </a:r>
            <a:endParaRPr sz="1500"/>
          </a:p>
          <a:p>
            <a:pPr indent="0" lvl="0" marL="0" rtl="0" algn="l">
              <a:spcBef>
                <a:spcPts val="1000"/>
              </a:spcBef>
              <a:spcAft>
                <a:spcPts val="0"/>
              </a:spcAft>
              <a:buClr>
                <a:schemeClr val="dk1"/>
              </a:buClr>
              <a:buSzPts val="1100"/>
              <a:buFont typeface="Arial"/>
              <a:buNone/>
            </a:pPr>
            <a:r>
              <a:rPr lang="en-US" sz="1500"/>
              <a:t>ggraph(tidy_grocery_graph, layout = "fr") +</a:t>
            </a:r>
            <a:endParaRPr sz="1500"/>
          </a:p>
          <a:p>
            <a:pPr indent="0" lvl="0" marL="0" rtl="0" algn="l">
              <a:spcBef>
                <a:spcPts val="1000"/>
              </a:spcBef>
              <a:spcAft>
                <a:spcPts val="0"/>
              </a:spcAft>
              <a:buClr>
                <a:schemeClr val="dk1"/>
              </a:buClr>
              <a:buSzPts val="1100"/>
              <a:buFont typeface="Arial"/>
              <a:buNone/>
            </a:pPr>
            <a:r>
              <a:rPr lang="en-US" sz="1500"/>
              <a:t>geom_edge_link(aes(edge_width = Weight), alpha = 0.5) +</a:t>
            </a:r>
            <a:endParaRPr sz="1500"/>
          </a:p>
          <a:p>
            <a:pPr indent="0" lvl="0" marL="0" rtl="0" algn="l">
              <a:spcBef>
                <a:spcPts val="1000"/>
              </a:spcBef>
              <a:spcAft>
                <a:spcPts val="0"/>
              </a:spcAft>
              <a:buClr>
                <a:schemeClr val="dk1"/>
              </a:buClr>
              <a:buSzPts val="1100"/>
              <a:buFont typeface="Arial"/>
              <a:buNone/>
            </a:pPr>
            <a:r>
              <a:rPr lang="en-US" sz="1500"/>
              <a:t> </a:t>
            </a:r>
            <a:r>
              <a:rPr lang="en-US" sz="1500"/>
              <a:t>geom_node_point(aes(color = factor(membership(communities))), size = 4) +</a:t>
            </a:r>
            <a:endParaRPr sz="1500"/>
          </a:p>
          <a:p>
            <a:pPr indent="0" lvl="0" marL="0" rtl="0" algn="l">
              <a:spcBef>
                <a:spcPts val="1000"/>
              </a:spcBef>
              <a:spcAft>
                <a:spcPts val="0"/>
              </a:spcAft>
              <a:buClr>
                <a:schemeClr val="dk1"/>
              </a:buClr>
              <a:buSzPts val="1100"/>
              <a:buFont typeface="Arial"/>
              <a:buNone/>
            </a:pPr>
            <a:r>
              <a:rPr lang="en-US" sz="1500"/>
              <a:t>  geom_node_text(aes(label = name), repel = TRUE) +</a:t>
            </a:r>
            <a:endParaRPr sz="1500"/>
          </a:p>
          <a:p>
            <a:pPr indent="0" lvl="0" marL="0" rtl="0" algn="l">
              <a:spcBef>
                <a:spcPts val="1000"/>
              </a:spcBef>
              <a:spcAft>
                <a:spcPts val="0"/>
              </a:spcAft>
              <a:buClr>
                <a:schemeClr val="dk1"/>
              </a:buClr>
              <a:buSzPts val="1100"/>
              <a:buFont typeface="Arial"/>
              <a:buNone/>
            </a:pPr>
            <a:r>
              <a:rPr lang="en-US" sz="1500"/>
              <a:t>  theme_void() +</a:t>
            </a:r>
            <a:endParaRPr sz="1500"/>
          </a:p>
          <a:p>
            <a:pPr indent="0" lvl="0" marL="0" rtl="0" algn="l">
              <a:spcBef>
                <a:spcPts val="1000"/>
              </a:spcBef>
              <a:spcAft>
                <a:spcPts val="0"/>
              </a:spcAft>
              <a:buClr>
                <a:schemeClr val="dk1"/>
              </a:buClr>
              <a:buSzPts val="1100"/>
              <a:buFont typeface="Arial"/>
              <a:buNone/>
            </a:pPr>
            <a:r>
              <a:rPr lang="en-US" sz="1500"/>
              <a:t>  ggtitle("Grocery Network with Communities")</a:t>
            </a:r>
            <a:endParaRPr sz="1500"/>
          </a:p>
          <a:p>
            <a:pPr indent="0" lvl="0" marL="0" rtl="0" algn="l">
              <a:spcBef>
                <a:spcPts val="1000"/>
              </a:spcBef>
              <a:spcAft>
                <a:spcPts val="0"/>
              </a:spcAft>
              <a:buNone/>
            </a:pPr>
            <a:r>
              <a:t/>
            </a:r>
            <a:endParaRPr sz="1500"/>
          </a:p>
        </p:txBody>
      </p:sp>
      <p:sp>
        <p:nvSpPr>
          <p:cNvPr id="207" name="Google Shape;207;g316737736d7_0_21"/>
          <p:cNvSpPr txBox="1"/>
          <p:nvPr>
            <p:ph idx="2" type="body"/>
          </p:nvPr>
        </p:nvSpPr>
        <p:spPr>
          <a:xfrm>
            <a:off x="6172200" y="2007163"/>
            <a:ext cx="52578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sp>
        <p:nvSpPr>
          <p:cNvPr id="208" name="Google Shape;208;g316737736d7_0_21"/>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accent2"/>
                </a:solidFill>
              </a:rPr>
              <a:t>Network-Based Analysis and Community Detection in R</a:t>
            </a:r>
            <a:endParaRPr/>
          </a:p>
        </p:txBody>
      </p:sp>
      <p:pic>
        <p:nvPicPr>
          <p:cNvPr id="209" name="Google Shape;209;g316737736d7_0_21"/>
          <p:cNvPicPr preferRelativeResize="0"/>
          <p:nvPr/>
        </p:nvPicPr>
        <p:blipFill>
          <a:blip r:embed="rId3">
            <a:alphaModFix/>
          </a:blip>
          <a:stretch>
            <a:fillRect/>
          </a:stretch>
        </p:blipFill>
        <p:spPr>
          <a:xfrm>
            <a:off x="5065575" y="1854775"/>
            <a:ext cx="7126425" cy="5003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
          <p:cNvSpPr txBox="1"/>
          <p:nvPr>
            <p:ph idx="1" type="body"/>
          </p:nvPr>
        </p:nvSpPr>
        <p:spPr>
          <a:xfrm>
            <a:off x="0" y="2007163"/>
            <a:ext cx="6019800" cy="3936438"/>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u="sng"/>
              <a:t>Finance</a:t>
            </a:r>
            <a:r>
              <a:rPr lang="en-US" sz="1600"/>
              <a:t>: Fraud detection related to credit card usage</a:t>
            </a:r>
            <a:endParaRPr/>
          </a:p>
          <a:p>
            <a:pPr indent="-228600" lvl="0" marL="228600" rtl="0" algn="l">
              <a:lnSpc>
                <a:spcPct val="90000"/>
              </a:lnSpc>
              <a:spcBef>
                <a:spcPts val="1000"/>
              </a:spcBef>
              <a:spcAft>
                <a:spcPts val="0"/>
              </a:spcAft>
              <a:buClr>
                <a:schemeClr val="dk1"/>
              </a:buClr>
              <a:buSzPts val="1600"/>
              <a:buChar char="•"/>
            </a:pPr>
            <a:r>
              <a:rPr lang="en-US" sz="1600" u="sng"/>
              <a:t>Manufacturing</a:t>
            </a:r>
            <a:r>
              <a:rPr lang="en-US" sz="1600"/>
              <a:t>: Failure prediction of equipment</a:t>
            </a:r>
            <a:endParaRPr/>
          </a:p>
          <a:p>
            <a:pPr indent="-228600" lvl="0" marL="228600" rtl="0" algn="l">
              <a:lnSpc>
                <a:spcPct val="90000"/>
              </a:lnSpc>
              <a:spcBef>
                <a:spcPts val="1000"/>
              </a:spcBef>
              <a:spcAft>
                <a:spcPts val="0"/>
              </a:spcAft>
              <a:buClr>
                <a:schemeClr val="dk1"/>
              </a:buClr>
              <a:buSzPts val="1600"/>
              <a:buChar char="•"/>
            </a:pPr>
            <a:r>
              <a:rPr lang="en-US" sz="1600" u="sng"/>
              <a:t>Medicine</a:t>
            </a:r>
            <a:r>
              <a:rPr lang="en-US" sz="1600"/>
              <a:t>: Determination of symptom analysis and comorbid conditions</a:t>
            </a:r>
            <a:endParaRPr/>
          </a:p>
          <a:p>
            <a:pPr indent="-228600" lvl="0" marL="228600" rtl="0" algn="l">
              <a:lnSpc>
                <a:spcPct val="90000"/>
              </a:lnSpc>
              <a:spcBef>
                <a:spcPts val="1000"/>
              </a:spcBef>
              <a:spcAft>
                <a:spcPts val="0"/>
              </a:spcAft>
              <a:buClr>
                <a:schemeClr val="dk1"/>
              </a:buClr>
              <a:buSzPts val="1600"/>
              <a:buChar char="•"/>
            </a:pPr>
            <a:r>
              <a:rPr lang="en-US" sz="1600" u="sng"/>
              <a:t>Telecom</a:t>
            </a:r>
            <a:r>
              <a:rPr lang="en-US" sz="1600"/>
              <a:t>: Bundling tv and internet packages to reduce churn</a:t>
            </a:r>
            <a:endParaRPr/>
          </a:p>
          <a:p>
            <a:pPr indent="-63500" lvl="0" marL="228600" rtl="0" algn="l">
              <a:lnSpc>
                <a:spcPct val="90000"/>
              </a:lnSpc>
              <a:spcBef>
                <a:spcPts val="1000"/>
              </a:spcBef>
              <a:spcAft>
                <a:spcPts val="0"/>
              </a:spcAft>
              <a:buClr>
                <a:schemeClr val="dk1"/>
              </a:buClr>
              <a:buSzPts val="2600"/>
              <a:buNone/>
            </a:pPr>
            <a:r>
              <a:t/>
            </a:r>
            <a:endParaRPr/>
          </a:p>
        </p:txBody>
      </p:sp>
      <p:sp>
        <p:nvSpPr>
          <p:cNvPr id="218" name="Google Shape;218;p1"/>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Applications Beyond Retail</a:t>
            </a:r>
            <a:endParaRPr/>
          </a:p>
        </p:txBody>
      </p:sp>
      <p:pic>
        <p:nvPicPr>
          <p:cNvPr id="219" name="Google Shape;219;p1"/>
          <p:cNvPicPr preferRelativeResize="0"/>
          <p:nvPr>
            <p:ph idx="2" type="body"/>
          </p:nvPr>
        </p:nvPicPr>
        <p:blipFill rotWithShape="1">
          <a:blip r:embed="rId3">
            <a:alphaModFix/>
          </a:blip>
          <a:srcRect b="0" l="0" r="0" t="0"/>
          <a:stretch/>
        </p:blipFill>
        <p:spPr>
          <a:xfrm>
            <a:off x="6651084" y="2007162"/>
            <a:ext cx="4498197" cy="3819833"/>
          </a:xfrm>
          <a:prstGeom prst="rect">
            <a:avLst/>
          </a:prstGeom>
          <a:noFill/>
          <a:ln>
            <a:noFill/>
          </a:ln>
        </p:spPr>
      </p:pic>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
          <p:cNvSpPr txBox="1"/>
          <p:nvPr>
            <p:ph idx="1" type="body"/>
          </p:nvPr>
        </p:nvSpPr>
        <p:spPr>
          <a:xfrm>
            <a:off x="838200" y="2007163"/>
            <a:ext cx="5257800" cy="4142914"/>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Examine a combination of items in a single transaction and compare to a buyer’s regular purchasing habits. Anomalies such as high priced items from other countries may indicate fraud</a:t>
            </a:r>
            <a:endParaRPr/>
          </a:p>
          <a:p>
            <a:pPr indent="-228600" lvl="0" marL="228600" rtl="0" algn="l">
              <a:lnSpc>
                <a:spcPct val="90000"/>
              </a:lnSpc>
              <a:spcBef>
                <a:spcPts val="1000"/>
              </a:spcBef>
              <a:spcAft>
                <a:spcPts val="0"/>
              </a:spcAft>
              <a:buClr>
                <a:schemeClr val="dk1"/>
              </a:buClr>
              <a:buSzPts val="1600"/>
              <a:buChar char="•"/>
            </a:pPr>
            <a:r>
              <a:rPr lang="en-US" sz="1600"/>
              <a:t>Identify transactions which  deviate from a buyer’s historical purchasing behavior, such as: buying from categories they never brought from before or making a large purchase in a short period of time</a:t>
            </a:r>
            <a:endParaRPr/>
          </a:p>
          <a:p>
            <a:pPr indent="-228600" lvl="0" marL="228600" rtl="0" algn="l">
              <a:lnSpc>
                <a:spcPct val="90000"/>
              </a:lnSpc>
              <a:spcBef>
                <a:spcPts val="1000"/>
              </a:spcBef>
              <a:spcAft>
                <a:spcPts val="0"/>
              </a:spcAft>
              <a:buClr>
                <a:schemeClr val="dk1"/>
              </a:buClr>
              <a:buSzPts val="1600"/>
              <a:buChar char="•"/>
            </a:pPr>
            <a:r>
              <a:rPr lang="en-US" sz="1600"/>
              <a:t>Implement Apriori algorithm to identify association rules between different purchases in order to capture unusual combinations of purchases.</a:t>
            </a:r>
            <a:endParaRPr/>
          </a:p>
          <a:p>
            <a:pPr indent="-228600" lvl="0" marL="228600" rtl="0" algn="l">
              <a:lnSpc>
                <a:spcPct val="90000"/>
              </a:lnSpc>
              <a:spcBef>
                <a:spcPts val="1000"/>
              </a:spcBef>
              <a:spcAft>
                <a:spcPts val="0"/>
              </a:spcAft>
              <a:buClr>
                <a:schemeClr val="dk1"/>
              </a:buClr>
              <a:buSzPts val="1600"/>
              <a:buChar char="•"/>
            </a:pPr>
            <a:r>
              <a:rPr lang="en-US" sz="1600"/>
              <a:t>Utilize dimensionality reduction by grouping purchases together and creating broader categories in order to speed up the fraud detection process</a:t>
            </a:r>
            <a:endParaRPr/>
          </a:p>
        </p:txBody>
      </p:sp>
      <p:sp>
        <p:nvSpPr>
          <p:cNvPr id="228" name="Google Shape;228;p2"/>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Applications Beyond Retail</a:t>
            </a:r>
            <a:endParaRPr/>
          </a:p>
        </p:txBody>
      </p:sp>
      <p:sp>
        <p:nvSpPr>
          <p:cNvPr id="229" name="Google Shape;229;p2"/>
          <p:cNvSpPr txBox="1"/>
          <p:nvPr/>
        </p:nvSpPr>
        <p:spPr>
          <a:xfrm>
            <a:off x="836612" y="1068860"/>
            <a:ext cx="8972035" cy="5749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BCE9F5"/>
              </a:buClr>
              <a:buSzPts val="2400"/>
              <a:buFont typeface="Arial"/>
              <a:buNone/>
            </a:pPr>
            <a:r>
              <a:rPr b="0" i="1" lang="en-US" sz="2400" u="none" cap="none" strike="noStrike">
                <a:solidFill>
                  <a:srgbClr val="BCE9F5"/>
                </a:solidFill>
                <a:latin typeface="Arial"/>
                <a:ea typeface="Arial"/>
                <a:cs typeface="Arial"/>
                <a:sym typeface="Arial"/>
              </a:rPr>
              <a:t>Finance</a:t>
            </a:r>
            <a:endParaRPr/>
          </a:p>
        </p:txBody>
      </p:sp>
      <p:pic>
        <p:nvPicPr>
          <p:cNvPr id="230" name="Google Shape;230;p2"/>
          <p:cNvPicPr preferRelativeResize="0"/>
          <p:nvPr>
            <p:ph idx="2" type="body"/>
          </p:nvPr>
        </p:nvPicPr>
        <p:blipFill rotWithShape="1">
          <a:blip r:embed="rId3">
            <a:alphaModFix/>
          </a:blip>
          <a:srcRect b="0" l="0" r="0" t="0"/>
          <a:stretch/>
        </p:blipFill>
        <p:spPr>
          <a:xfrm>
            <a:off x="6743700" y="2006600"/>
            <a:ext cx="4114800" cy="4114800"/>
          </a:xfrm>
          <a:prstGeom prst="rect">
            <a:avLst/>
          </a:prstGeom>
          <a:noFill/>
          <a:ln>
            <a:noFill/>
          </a:ln>
        </p:spPr>
      </p:pic>
    </p:spTree>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
          <p:cNvSpPr txBox="1"/>
          <p:nvPr>
            <p:ph idx="1" type="body"/>
          </p:nvPr>
        </p:nvSpPr>
        <p:spPr>
          <a:xfrm>
            <a:off x="528484" y="2314126"/>
            <a:ext cx="5181600" cy="3429563"/>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Utilize sensors on equipment to collect features such as: temperature, pressure and vibration</a:t>
            </a:r>
            <a:endParaRPr/>
          </a:p>
          <a:p>
            <a:pPr indent="-228600" lvl="0" marL="228600" rtl="0" algn="l">
              <a:lnSpc>
                <a:spcPct val="90000"/>
              </a:lnSpc>
              <a:spcBef>
                <a:spcPts val="1000"/>
              </a:spcBef>
              <a:spcAft>
                <a:spcPts val="0"/>
              </a:spcAft>
              <a:buClr>
                <a:schemeClr val="dk1"/>
              </a:buClr>
              <a:buSzPts val="1600"/>
              <a:buChar char="•"/>
            </a:pPr>
            <a:r>
              <a:rPr lang="en-US" sz="1600"/>
              <a:t>Identify recurring patterns in which certain combinations of sensor readings appear together right before the occurrence of a failure</a:t>
            </a:r>
            <a:endParaRPr/>
          </a:p>
          <a:p>
            <a:pPr indent="-228600" lvl="0" marL="228600" rtl="0" algn="l">
              <a:lnSpc>
                <a:spcPct val="90000"/>
              </a:lnSpc>
              <a:spcBef>
                <a:spcPts val="1000"/>
              </a:spcBef>
              <a:spcAft>
                <a:spcPts val="0"/>
              </a:spcAft>
              <a:buClr>
                <a:schemeClr val="dk1"/>
              </a:buClr>
              <a:buSzPts val="1600"/>
              <a:buChar char="•"/>
            </a:pPr>
            <a:r>
              <a:rPr lang="en-US" sz="1600"/>
              <a:t>Apply the Apriori algorithm in order to create association rules which show the likelihood of a certain sensor reading combination occurring next to an equipment failure</a:t>
            </a:r>
            <a:endParaRPr/>
          </a:p>
          <a:p>
            <a:pPr indent="-228600" lvl="0" marL="228600" rtl="0" algn="l">
              <a:lnSpc>
                <a:spcPct val="90000"/>
              </a:lnSpc>
              <a:spcBef>
                <a:spcPts val="1000"/>
              </a:spcBef>
              <a:spcAft>
                <a:spcPts val="0"/>
              </a:spcAft>
              <a:buClr>
                <a:schemeClr val="dk1"/>
              </a:buClr>
              <a:buSzPts val="1600"/>
              <a:buChar char="•"/>
            </a:pPr>
            <a:r>
              <a:rPr lang="en-US" sz="1600"/>
              <a:t>These measures help prevent costly emergency repairs and reduce maintenance expenses</a:t>
            </a:r>
            <a:endParaRPr/>
          </a:p>
        </p:txBody>
      </p:sp>
      <p:sp>
        <p:nvSpPr>
          <p:cNvPr id="239" name="Google Shape;239;p3"/>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Applications Beyond Retail</a:t>
            </a:r>
            <a:endParaRPr/>
          </a:p>
        </p:txBody>
      </p:sp>
      <p:sp>
        <p:nvSpPr>
          <p:cNvPr id="240" name="Google Shape;240;p3"/>
          <p:cNvSpPr txBox="1"/>
          <p:nvPr/>
        </p:nvSpPr>
        <p:spPr>
          <a:xfrm>
            <a:off x="876300" y="1068860"/>
            <a:ext cx="8972035" cy="5749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BCE9F5"/>
              </a:buClr>
              <a:buSzPts val="2400"/>
              <a:buFont typeface="Arial"/>
              <a:buNone/>
            </a:pPr>
            <a:r>
              <a:rPr b="0" i="1" lang="en-US" sz="2400" u="none" cap="none" strike="noStrike">
                <a:solidFill>
                  <a:srgbClr val="BCE9F5"/>
                </a:solidFill>
                <a:latin typeface="Arial"/>
                <a:ea typeface="Arial"/>
                <a:cs typeface="Arial"/>
                <a:sym typeface="Arial"/>
              </a:rPr>
              <a:t>Manufacturing</a:t>
            </a:r>
            <a:endParaRPr/>
          </a:p>
        </p:txBody>
      </p:sp>
      <p:pic>
        <p:nvPicPr>
          <p:cNvPr id="241" name="Google Shape;241;p3"/>
          <p:cNvPicPr preferRelativeResize="0"/>
          <p:nvPr>
            <p:ph idx="2" type="body"/>
          </p:nvPr>
        </p:nvPicPr>
        <p:blipFill rotWithShape="1">
          <a:blip r:embed="rId3">
            <a:alphaModFix/>
          </a:blip>
          <a:srcRect b="0" l="0" r="0" t="0"/>
          <a:stretch/>
        </p:blipFill>
        <p:spPr>
          <a:xfrm>
            <a:off x="6172200" y="2033905"/>
            <a:ext cx="5257800" cy="4060190"/>
          </a:xfrm>
          <a:prstGeom prst="rect">
            <a:avLst/>
          </a:prstGeom>
          <a:noFill/>
          <a:ln>
            <a:noFill/>
          </a:ln>
        </p:spPr>
      </p:pic>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
          <p:cNvSpPr txBox="1"/>
          <p:nvPr>
            <p:ph idx="1" type="body"/>
          </p:nvPr>
        </p:nvSpPr>
        <p:spPr>
          <a:xfrm>
            <a:off x="838200" y="2007163"/>
            <a:ext cx="5181600" cy="4114800"/>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Use patient records as transactions and symptoms, medications and lab results as features of those particular transactions</a:t>
            </a:r>
            <a:endParaRPr/>
          </a:p>
          <a:p>
            <a:pPr indent="-228600" lvl="0" marL="228600" rtl="0" algn="l">
              <a:lnSpc>
                <a:spcPct val="90000"/>
              </a:lnSpc>
              <a:spcBef>
                <a:spcPts val="1000"/>
              </a:spcBef>
              <a:spcAft>
                <a:spcPts val="0"/>
              </a:spcAft>
              <a:buClr>
                <a:schemeClr val="dk1"/>
              </a:buClr>
              <a:buSzPts val="1600"/>
              <a:buChar char="•"/>
            </a:pPr>
            <a:r>
              <a:rPr lang="en-US" sz="1600"/>
              <a:t>Identify frequent items sets or features which indicate co-occurrence</a:t>
            </a:r>
            <a:endParaRPr/>
          </a:p>
          <a:p>
            <a:pPr indent="-228600" lvl="0" marL="228600" rtl="0" algn="l">
              <a:lnSpc>
                <a:spcPct val="90000"/>
              </a:lnSpc>
              <a:spcBef>
                <a:spcPts val="1000"/>
              </a:spcBef>
              <a:spcAft>
                <a:spcPts val="0"/>
              </a:spcAft>
              <a:buClr>
                <a:schemeClr val="dk1"/>
              </a:buClr>
              <a:buSzPts val="1600"/>
              <a:buChar char="•"/>
            </a:pPr>
            <a:r>
              <a:rPr lang="en-US" sz="1600"/>
              <a:t>Association rules convey the likelihood of the occurrence of one feature along another one, which helps uncover potential co-morbid conditions</a:t>
            </a:r>
            <a:endParaRPr/>
          </a:p>
          <a:p>
            <a:pPr indent="-228600" lvl="0" marL="228600" rtl="0" algn="l">
              <a:lnSpc>
                <a:spcPct val="90000"/>
              </a:lnSpc>
              <a:spcBef>
                <a:spcPts val="1000"/>
              </a:spcBef>
              <a:spcAft>
                <a:spcPts val="0"/>
              </a:spcAft>
              <a:buClr>
                <a:schemeClr val="dk1"/>
              </a:buClr>
              <a:buSzPts val="1600"/>
              <a:buChar char="•"/>
            </a:pPr>
            <a:r>
              <a:rPr lang="en-US" sz="1600"/>
              <a:t>The identification of co-morbidities, particularly in chronic diseases, aids in the development of more efficacious treatment plans</a:t>
            </a:r>
            <a:endParaRPr/>
          </a:p>
        </p:txBody>
      </p:sp>
      <p:sp>
        <p:nvSpPr>
          <p:cNvPr id="250" name="Google Shape;250;p4"/>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Applications Beyond Retail</a:t>
            </a:r>
            <a:endParaRPr/>
          </a:p>
        </p:txBody>
      </p:sp>
      <p:sp>
        <p:nvSpPr>
          <p:cNvPr id="251" name="Google Shape;251;p4"/>
          <p:cNvSpPr txBox="1"/>
          <p:nvPr/>
        </p:nvSpPr>
        <p:spPr>
          <a:xfrm>
            <a:off x="876300" y="1068860"/>
            <a:ext cx="8972035" cy="5749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BCE9F5"/>
              </a:buClr>
              <a:buSzPts val="2400"/>
              <a:buFont typeface="Arial"/>
              <a:buNone/>
            </a:pPr>
            <a:r>
              <a:rPr b="0" i="1" lang="en-US" sz="2400" u="none" cap="none" strike="noStrike">
                <a:solidFill>
                  <a:srgbClr val="BCE9F5"/>
                </a:solidFill>
                <a:latin typeface="Arial"/>
                <a:ea typeface="Arial"/>
                <a:cs typeface="Arial"/>
                <a:sym typeface="Arial"/>
              </a:rPr>
              <a:t>Medicine</a:t>
            </a:r>
            <a:endParaRPr/>
          </a:p>
        </p:txBody>
      </p:sp>
      <p:pic>
        <p:nvPicPr>
          <p:cNvPr id="252" name="Google Shape;252;p4"/>
          <p:cNvPicPr preferRelativeResize="0"/>
          <p:nvPr>
            <p:ph idx="2" type="body"/>
          </p:nvPr>
        </p:nvPicPr>
        <p:blipFill rotWithShape="1">
          <a:blip r:embed="rId3">
            <a:alphaModFix/>
          </a:blip>
          <a:srcRect b="0" l="0" r="0" t="0"/>
          <a:stretch/>
        </p:blipFill>
        <p:spPr>
          <a:xfrm>
            <a:off x="7272002" y="2227006"/>
            <a:ext cx="4246487" cy="3377381"/>
          </a:xfrm>
          <a:prstGeom prst="rect">
            <a:avLst/>
          </a:prstGeom>
          <a:noFill/>
          <a:ln>
            <a:noFill/>
          </a:ln>
        </p:spPr>
      </p:pic>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
          <p:cNvSpPr txBox="1"/>
          <p:nvPr>
            <p:ph idx="1" type="body"/>
          </p:nvPr>
        </p:nvSpPr>
        <p:spPr>
          <a:xfrm>
            <a:off x="838200" y="2007163"/>
            <a:ext cx="5181600" cy="4114800"/>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Analyze customer data and look for relationships between tv and internet subscriptions to extract customers which purchase both together</a:t>
            </a:r>
            <a:endParaRPr/>
          </a:p>
          <a:p>
            <a:pPr indent="-228600" lvl="0" marL="228600" rtl="0" algn="l">
              <a:lnSpc>
                <a:spcPct val="90000"/>
              </a:lnSpc>
              <a:spcBef>
                <a:spcPts val="1000"/>
              </a:spcBef>
              <a:spcAft>
                <a:spcPts val="0"/>
              </a:spcAft>
              <a:buClr>
                <a:schemeClr val="dk1"/>
              </a:buClr>
              <a:buSzPts val="1600"/>
              <a:buChar char="•"/>
            </a:pPr>
            <a:r>
              <a:rPr lang="en-US" sz="1600"/>
              <a:t>Identify patterns to see the types of specific tv and internet plans purchased by customers</a:t>
            </a:r>
            <a:endParaRPr/>
          </a:p>
          <a:p>
            <a:pPr indent="-228600" lvl="0" marL="228600" rtl="0" algn="l">
              <a:lnSpc>
                <a:spcPct val="90000"/>
              </a:lnSpc>
              <a:spcBef>
                <a:spcPts val="1000"/>
              </a:spcBef>
              <a:spcAft>
                <a:spcPts val="0"/>
              </a:spcAft>
              <a:buClr>
                <a:schemeClr val="dk1"/>
              </a:buClr>
              <a:buSzPts val="1600"/>
              <a:buChar char="•"/>
            </a:pPr>
            <a:r>
              <a:rPr lang="en-US" sz="1600"/>
              <a:t>Based on the observed patterns, bundle tv and internet services at relatively affordable prices</a:t>
            </a:r>
            <a:endParaRPr/>
          </a:p>
          <a:p>
            <a:pPr indent="-228600" lvl="0" marL="228600" rtl="0" algn="l">
              <a:lnSpc>
                <a:spcPct val="90000"/>
              </a:lnSpc>
              <a:spcBef>
                <a:spcPts val="1000"/>
              </a:spcBef>
              <a:spcAft>
                <a:spcPts val="0"/>
              </a:spcAft>
              <a:buClr>
                <a:schemeClr val="dk1"/>
              </a:buClr>
              <a:buSzPts val="1600"/>
              <a:buChar char="•"/>
            </a:pPr>
            <a:r>
              <a:rPr lang="en-US" sz="1600"/>
              <a:t>By bundling, companies reduce the chance of customers leaving to competitors, in effect, reducing churn</a:t>
            </a:r>
            <a:endParaRPr/>
          </a:p>
        </p:txBody>
      </p:sp>
      <p:sp>
        <p:nvSpPr>
          <p:cNvPr id="261" name="Google Shape;261;p5"/>
          <p:cNvSpPr txBox="1"/>
          <p:nvPr>
            <p:ph type="title"/>
          </p:nvPr>
        </p:nvSpPr>
        <p:spPr>
          <a:xfrm>
            <a:off x="839788" y="318248"/>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Applications Beyond Retail</a:t>
            </a:r>
            <a:endParaRPr/>
          </a:p>
        </p:txBody>
      </p:sp>
      <p:sp>
        <p:nvSpPr>
          <p:cNvPr id="262" name="Google Shape;262;p5"/>
          <p:cNvSpPr txBox="1"/>
          <p:nvPr/>
        </p:nvSpPr>
        <p:spPr>
          <a:xfrm>
            <a:off x="876300" y="1068860"/>
            <a:ext cx="8972035" cy="5749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BCE9F5"/>
              </a:buClr>
              <a:buSzPts val="2400"/>
              <a:buFont typeface="Arial"/>
              <a:buNone/>
            </a:pPr>
            <a:r>
              <a:rPr b="0" i="1" lang="en-US" sz="2400" u="none" cap="none" strike="noStrike">
                <a:solidFill>
                  <a:srgbClr val="BCE9F5"/>
                </a:solidFill>
                <a:latin typeface="Arial"/>
                <a:ea typeface="Arial"/>
                <a:cs typeface="Arial"/>
                <a:sym typeface="Arial"/>
              </a:rPr>
              <a:t>Telecom</a:t>
            </a:r>
            <a:endParaRPr/>
          </a:p>
        </p:txBody>
      </p:sp>
      <p:pic>
        <p:nvPicPr>
          <p:cNvPr id="263" name="Google Shape;263;p5"/>
          <p:cNvPicPr preferRelativeResize="0"/>
          <p:nvPr>
            <p:ph idx="2" type="body"/>
          </p:nvPr>
        </p:nvPicPr>
        <p:blipFill rotWithShape="1">
          <a:blip r:embed="rId3">
            <a:alphaModFix/>
          </a:blip>
          <a:srcRect b="0" l="0" r="0" t="0"/>
          <a:stretch/>
        </p:blipFill>
        <p:spPr>
          <a:xfrm>
            <a:off x="6725265" y="2207766"/>
            <a:ext cx="4454013" cy="3136990"/>
          </a:xfrm>
          <a:prstGeom prst="rect">
            <a:avLst/>
          </a:prstGeom>
          <a:noFill/>
          <a:ln>
            <a:noFill/>
          </a:ln>
        </p:spPr>
      </p:pic>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d5acf11040_0_0"/>
          <p:cNvSpPr txBox="1"/>
          <p:nvPr>
            <p:ph idx="1" type="body"/>
          </p:nvPr>
        </p:nvSpPr>
        <p:spPr>
          <a:xfrm>
            <a:off x="838200" y="2007175"/>
            <a:ext cx="97863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3700"/>
              <a:t>Objective: To identify product associations in transaction data and explore strategies for bundling and promotional offers.</a:t>
            </a:r>
            <a:endParaRPr sz="3700"/>
          </a:p>
          <a:p>
            <a:pPr indent="0" lvl="0" marL="0" rtl="0" algn="l">
              <a:lnSpc>
                <a:spcPct val="115000"/>
              </a:lnSpc>
              <a:spcBef>
                <a:spcPts val="1200"/>
              </a:spcBef>
              <a:spcAft>
                <a:spcPts val="0"/>
              </a:spcAft>
              <a:buNone/>
            </a:pPr>
            <a:r>
              <a:rPr b="1" lang="en-US"/>
              <a:t>Tools Used</a:t>
            </a:r>
            <a:r>
              <a:rPr lang="en-US"/>
              <a:t>: R packages - </a:t>
            </a:r>
            <a:r>
              <a:rPr lang="en-US">
                <a:solidFill>
                  <a:srgbClr val="188038"/>
                </a:solidFill>
                <a:latin typeface="Roboto Mono"/>
                <a:ea typeface="Roboto Mono"/>
                <a:cs typeface="Roboto Mono"/>
                <a:sym typeface="Roboto Mono"/>
              </a:rPr>
              <a:t>arules</a:t>
            </a:r>
            <a:r>
              <a:rPr lang="en-US"/>
              <a:t> and </a:t>
            </a:r>
            <a:r>
              <a:rPr lang="en-US">
                <a:solidFill>
                  <a:srgbClr val="188038"/>
                </a:solidFill>
                <a:latin typeface="Roboto Mono"/>
                <a:ea typeface="Roboto Mono"/>
                <a:cs typeface="Roboto Mono"/>
                <a:sym typeface="Roboto Mono"/>
              </a:rPr>
              <a:t>arulesViz</a:t>
            </a:r>
            <a:endParaRPr>
              <a:solidFill>
                <a:srgbClr val="188038"/>
              </a:solidFill>
              <a:latin typeface="Roboto Mono"/>
              <a:ea typeface="Roboto Mono"/>
              <a:cs typeface="Roboto Mono"/>
              <a:sym typeface="Roboto Mono"/>
            </a:endParaRPr>
          </a:p>
          <a:p>
            <a:pPr indent="0" lvl="0" marL="0" rtl="0" algn="l">
              <a:spcBef>
                <a:spcPts val="1200"/>
              </a:spcBef>
              <a:spcAft>
                <a:spcPts val="0"/>
              </a:spcAft>
              <a:buNone/>
            </a:pPr>
            <a:br>
              <a:rPr lang="en-US" sz="3700"/>
            </a:br>
            <a:r>
              <a:rPr b="1" lang="en-US" sz="1800"/>
              <a:t>Data Source</a:t>
            </a:r>
            <a:r>
              <a:rPr lang="en-US" sz="1800"/>
              <a:t>: UCI Online Retail Dataset</a:t>
            </a:r>
            <a:endParaRPr sz="3300"/>
          </a:p>
          <a:p>
            <a:pPr indent="0" lvl="0" marL="0" rtl="0" algn="l">
              <a:spcBef>
                <a:spcPts val="1000"/>
              </a:spcBef>
              <a:spcAft>
                <a:spcPts val="0"/>
              </a:spcAft>
              <a:buNone/>
            </a:pPr>
            <a:r>
              <a:t/>
            </a:r>
            <a:endParaRPr sz="3700"/>
          </a:p>
        </p:txBody>
      </p:sp>
      <p:sp>
        <p:nvSpPr>
          <p:cNvPr id="270" name="Google Shape;270;g2d5acf11040_0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Market Basket Analysis Case Study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15f5663ef9_0_1"/>
          <p:cNvSpPr txBox="1"/>
          <p:nvPr>
            <p:ph idx="2" type="body"/>
          </p:nvPr>
        </p:nvSpPr>
        <p:spPr>
          <a:xfrm>
            <a:off x="179300" y="1973550"/>
            <a:ext cx="5658900" cy="4469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1600"/>
              <a:t>lhs (Left-Hand Side)</a:t>
            </a:r>
            <a:r>
              <a:rPr lang="en-US" sz="1600"/>
              <a:t>: The set of items or products that form the antecedent of the rule.</a:t>
            </a:r>
            <a:endParaRPr sz="1600"/>
          </a:p>
          <a:p>
            <a:pPr indent="0" lvl="0" marL="0" rtl="0" algn="l">
              <a:spcBef>
                <a:spcPts val="1000"/>
              </a:spcBef>
              <a:spcAft>
                <a:spcPts val="0"/>
              </a:spcAft>
              <a:buClr>
                <a:schemeClr val="dk1"/>
              </a:buClr>
              <a:buSzPts val="1100"/>
              <a:buFont typeface="Arial"/>
              <a:buNone/>
            </a:pPr>
            <a:r>
              <a:rPr b="1" lang="en-US" sz="1600"/>
              <a:t>rhs (Right-Hand Side)</a:t>
            </a:r>
            <a:r>
              <a:rPr lang="en-US" sz="1600"/>
              <a:t>: The item or product that forms the consequent of the rule, meaning it is likely to be bought if the lhs items are purchased.</a:t>
            </a:r>
            <a:endParaRPr sz="1600"/>
          </a:p>
          <a:p>
            <a:pPr indent="0" lvl="0" marL="0" rtl="0" algn="l">
              <a:spcBef>
                <a:spcPts val="1000"/>
              </a:spcBef>
              <a:spcAft>
                <a:spcPts val="0"/>
              </a:spcAft>
              <a:buClr>
                <a:schemeClr val="dk1"/>
              </a:buClr>
              <a:buSzPts val="1100"/>
              <a:buFont typeface="Arial"/>
              <a:buNone/>
            </a:pPr>
            <a:r>
              <a:rPr b="1" lang="en-US" sz="1600"/>
              <a:t>support</a:t>
            </a:r>
            <a:r>
              <a:rPr lang="en-US" sz="1600"/>
              <a:t>: The proportion of transactions that include both lhs and rhs items, indicating how frequently this combination occurs.</a:t>
            </a:r>
            <a:endParaRPr sz="1600"/>
          </a:p>
          <a:p>
            <a:pPr indent="0" lvl="0" marL="0" rtl="0" algn="l">
              <a:spcBef>
                <a:spcPts val="1000"/>
              </a:spcBef>
              <a:spcAft>
                <a:spcPts val="0"/>
              </a:spcAft>
              <a:buClr>
                <a:schemeClr val="dk1"/>
              </a:buClr>
              <a:buSzPts val="1100"/>
              <a:buFont typeface="Arial"/>
              <a:buNone/>
            </a:pPr>
            <a:r>
              <a:rPr b="1" lang="en-US" sz="1600"/>
              <a:t>confidence</a:t>
            </a:r>
            <a:r>
              <a:rPr lang="en-US" sz="1600"/>
              <a:t>: The likelihood that the rhs item is purchased when the lhs items are bought, expressed as a percentage.</a:t>
            </a:r>
            <a:endParaRPr sz="1600"/>
          </a:p>
          <a:p>
            <a:pPr indent="0" lvl="0" marL="0" rtl="0" algn="l">
              <a:spcBef>
                <a:spcPts val="1000"/>
              </a:spcBef>
              <a:spcAft>
                <a:spcPts val="0"/>
              </a:spcAft>
              <a:buClr>
                <a:schemeClr val="dk1"/>
              </a:buClr>
              <a:buSzPts val="1100"/>
              <a:buFont typeface="Arial"/>
              <a:buNone/>
            </a:pPr>
            <a:r>
              <a:rPr b="1" lang="en-US" sz="1600"/>
              <a:t>coverage</a:t>
            </a:r>
            <a:r>
              <a:rPr lang="en-US" sz="1600"/>
              <a:t>: The support of the lhs items alone, showing how often the antecedent occurs in the data.</a:t>
            </a:r>
            <a:endParaRPr sz="1600"/>
          </a:p>
          <a:p>
            <a:pPr indent="0" lvl="0" marL="0" rtl="0" algn="l">
              <a:spcBef>
                <a:spcPts val="1000"/>
              </a:spcBef>
              <a:spcAft>
                <a:spcPts val="0"/>
              </a:spcAft>
              <a:buClr>
                <a:schemeClr val="dk1"/>
              </a:buClr>
              <a:buSzPts val="1100"/>
              <a:buFont typeface="Arial"/>
              <a:buNone/>
            </a:pPr>
            <a:r>
              <a:rPr b="1" lang="en-US" sz="1600"/>
              <a:t>lift</a:t>
            </a:r>
            <a:r>
              <a:rPr lang="en-US" sz="1600"/>
              <a:t>: The strength of the association between lhs and rhs, with values greater than 1 indicating that the rhs item is more likely to be bought with lhs items than by random chance.</a:t>
            </a:r>
            <a:endParaRPr sz="1600"/>
          </a:p>
          <a:p>
            <a:pPr indent="0" lvl="0" marL="0" rtl="0" algn="l">
              <a:spcBef>
                <a:spcPts val="1000"/>
              </a:spcBef>
              <a:spcAft>
                <a:spcPts val="0"/>
              </a:spcAft>
              <a:buClr>
                <a:schemeClr val="dk1"/>
              </a:buClr>
              <a:buSzPts val="1100"/>
              <a:buFont typeface="Arial"/>
              <a:buNone/>
            </a:pPr>
            <a:r>
              <a:rPr b="1" lang="en-US" sz="1600"/>
              <a:t>count</a:t>
            </a:r>
            <a:r>
              <a:rPr lang="en-US" sz="1600"/>
              <a:t>: The number of transactions that contain both lhs and rhs items.</a:t>
            </a:r>
            <a:endParaRPr sz="1600"/>
          </a:p>
          <a:p>
            <a:pPr indent="0" lvl="0" marL="0" rtl="0" algn="l">
              <a:spcBef>
                <a:spcPts val="1000"/>
              </a:spcBef>
              <a:spcAft>
                <a:spcPts val="0"/>
              </a:spcAft>
              <a:buClr>
                <a:schemeClr val="dk1"/>
              </a:buClr>
              <a:buSzPts val="2600"/>
              <a:buFont typeface="Arial"/>
              <a:buNone/>
            </a:pPr>
            <a:r>
              <a:t/>
            </a:r>
            <a:endParaRPr sz="2400"/>
          </a:p>
        </p:txBody>
      </p:sp>
      <p:sp>
        <p:nvSpPr>
          <p:cNvPr id="277" name="Google Shape;277;g315f5663ef9_0_1"/>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Output</a:t>
            </a:r>
            <a:endParaRPr/>
          </a:p>
        </p:txBody>
      </p:sp>
      <p:pic>
        <p:nvPicPr>
          <p:cNvPr id="278" name="Google Shape;278;g315f5663ef9_0_1"/>
          <p:cNvPicPr preferRelativeResize="0"/>
          <p:nvPr/>
        </p:nvPicPr>
        <p:blipFill>
          <a:blip r:embed="rId3">
            <a:alphaModFix/>
          </a:blip>
          <a:stretch>
            <a:fillRect/>
          </a:stretch>
        </p:blipFill>
        <p:spPr>
          <a:xfrm>
            <a:off x="5838300" y="1973550"/>
            <a:ext cx="6048899" cy="41896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15f5663ef9_0_13"/>
          <p:cNvSpPr txBox="1"/>
          <p:nvPr>
            <p:ph idx="1" type="body"/>
          </p:nvPr>
        </p:nvSpPr>
        <p:spPr>
          <a:xfrm>
            <a:off x="212900" y="2007175"/>
            <a:ext cx="6152100" cy="4481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1700"/>
              <a:t>High Lift Values</a:t>
            </a:r>
            <a:r>
              <a:rPr lang="en-US" sz="1700"/>
              <a:t>: The analysis reveals strong associations between items, such as the POPPY'S PLAYHOUSE series and RED SPOTTY PAPER sets, which are ideal candidates for product bundling to boost sales.</a:t>
            </a:r>
            <a:endParaRPr sz="1700"/>
          </a:p>
          <a:p>
            <a:pPr indent="0" lvl="0" marL="0" rtl="0" algn="l">
              <a:spcBef>
                <a:spcPts val="1000"/>
              </a:spcBef>
              <a:spcAft>
                <a:spcPts val="0"/>
              </a:spcAft>
              <a:buNone/>
            </a:pPr>
            <a:r>
              <a:rPr b="1" lang="en-US" sz="1700"/>
              <a:t>Seasonal Trends</a:t>
            </a:r>
            <a:r>
              <a:rPr lang="en-US" sz="1700"/>
              <a:t>: Holiday-themed items like WOODEN STAR and HEART CHRISTMAS SCANDINAVIAN highlight opportunities for targeted marketing during peak holiday seasons.</a:t>
            </a:r>
            <a:endParaRPr sz="1700"/>
          </a:p>
          <a:p>
            <a:pPr indent="0" lvl="0" marL="0" rtl="0" algn="l">
              <a:spcBef>
                <a:spcPts val="1000"/>
              </a:spcBef>
              <a:spcAft>
                <a:spcPts val="0"/>
              </a:spcAft>
              <a:buNone/>
            </a:pPr>
            <a:r>
              <a:rPr b="1" lang="en-US" sz="1700"/>
              <a:t>Strategic Marketing Opportunities</a:t>
            </a:r>
            <a:r>
              <a:rPr lang="en-US" sz="1700"/>
              <a:t>: Implementing real-time cross-selling and bundling strategies can increase the average order value and enhance the customer experience.</a:t>
            </a:r>
            <a:endParaRPr sz="1700"/>
          </a:p>
          <a:p>
            <a:pPr indent="0" lvl="0" marL="0" rtl="0" algn="l">
              <a:spcBef>
                <a:spcPts val="1000"/>
              </a:spcBef>
              <a:spcAft>
                <a:spcPts val="0"/>
              </a:spcAft>
              <a:buNone/>
            </a:pPr>
            <a:r>
              <a:rPr b="1" lang="en-US" sz="1700"/>
              <a:t>Inventory and Regional Optimization</a:t>
            </a:r>
            <a:r>
              <a:rPr lang="en-US" sz="1700"/>
              <a:t>: Insights into transaction concentration in specific regions provide valuable guidance for optimizing inventory placement and tailoring marketing efforts to areas with higher demand.</a:t>
            </a:r>
            <a:endParaRPr sz="1700"/>
          </a:p>
          <a:p>
            <a:pPr indent="0" lvl="0" marL="0" rtl="0" algn="l">
              <a:spcBef>
                <a:spcPts val="1000"/>
              </a:spcBef>
              <a:spcAft>
                <a:spcPts val="0"/>
              </a:spcAft>
              <a:buNone/>
            </a:pPr>
            <a:r>
              <a:t/>
            </a:r>
            <a:endParaRPr b="1" sz="1900"/>
          </a:p>
        </p:txBody>
      </p:sp>
      <p:sp>
        <p:nvSpPr>
          <p:cNvPr id="285" name="Google Shape;285;g315f5663ef9_0_13"/>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Key Insights &amp; Strategic Implications</a:t>
            </a:r>
            <a:endParaRPr/>
          </a:p>
        </p:txBody>
      </p:sp>
      <p:pic>
        <p:nvPicPr>
          <p:cNvPr id="286" name="Google Shape;286;g315f5663ef9_0_13"/>
          <p:cNvPicPr preferRelativeResize="0"/>
          <p:nvPr/>
        </p:nvPicPr>
        <p:blipFill>
          <a:blip r:embed="rId3">
            <a:alphaModFix/>
          </a:blip>
          <a:stretch>
            <a:fillRect/>
          </a:stretch>
        </p:blipFill>
        <p:spPr>
          <a:xfrm>
            <a:off x="6096000" y="2007175"/>
            <a:ext cx="4818526" cy="4400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d5acf11040_0_47"/>
          <p:cNvSpPr txBox="1"/>
          <p:nvPr>
            <p:ph idx="1" type="body"/>
          </p:nvPr>
        </p:nvSpPr>
        <p:spPr>
          <a:xfrm>
            <a:off x="838200" y="2007163"/>
            <a:ext cx="51816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2100"/>
              <a:t>Value Addition</a:t>
            </a:r>
            <a:r>
              <a:rPr lang="en-US" sz="2100"/>
              <a:t>:</a:t>
            </a:r>
            <a:endParaRPr sz="2400"/>
          </a:p>
          <a:p>
            <a:pPr indent="-361950" lvl="0" marL="457200" rtl="0" algn="l">
              <a:lnSpc>
                <a:spcPct val="115000"/>
              </a:lnSpc>
              <a:spcBef>
                <a:spcPts val="1200"/>
              </a:spcBef>
              <a:spcAft>
                <a:spcPts val="0"/>
              </a:spcAft>
              <a:buSzPts val="2100"/>
              <a:buChar char="●"/>
            </a:pPr>
            <a:r>
              <a:rPr b="1" lang="en-US" sz="2100"/>
              <a:t>Customer Behavior</a:t>
            </a:r>
            <a:r>
              <a:rPr lang="en-US" sz="2100"/>
              <a:t>: Insights into customer purchasing habits.</a:t>
            </a:r>
            <a:endParaRPr sz="2100"/>
          </a:p>
          <a:p>
            <a:pPr indent="-361950" lvl="0" marL="457200" rtl="0" algn="l">
              <a:lnSpc>
                <a:spcPct val="115000"/>
              </a:lnSpc>
              <a:spcBef>
                <a:spcPts val="0"/>
              </a:spcBef>
              <a:spcAft>
                <a:spcPts val="0"/>
              </a:spcAft>
              <a:buSzPts val="2100"/>
              <a:buChar char="●"/>
            </a:pPr>
            <a:r>
              <a:rPr b="1" lang="en-US" sz="2100"/>
              <a:t>Strategic Marketing</a:t>
            </a:r>
            <a:r>
              <a:rPr lang="en-US" sz="2100"/>
              <a:t>: Opportunity to create bundles and improve customer satisfaction.</a:t>
            </a:r>
            <a:endParaRPr sz="2100"/>
          </a:p>
          <a:p>
            <a:pPr indent="-361950" lvl="0" marL="457200" rtl="0" algn="l">
              <a:lnSpc>
                <a:spcPct val="115000"/>
              </a:lnSpc>
              <a:spcBef>
                <a:spcPts val="0"/>
              </a:spcBef>
              <a:spcAft>
                <a:spcPts val="0"/>
              </a:spcAft>
              <a:buSzPts val="2100"/>
              <a:buChar char="●"/>
            </a:pPr>
            <a:r>
              <a:rPr b="1" lang="en-US" sz="2100"/>
              <a:t>Inventory Management</a:t>
            </a:r>
            <a:r>
              <a:rPr lang="en-US" sz="2100"/>
              <a:t>: Optimize stock based on high-transaction regions.</a:t>
            </a:r>
            <a:endParaRPr sz="2100"/>
          </a:p>
          <a:p>
            <a:pPr indent="-361950" lvl="0" marL="457200" rtl="0" algn="l">
              <a:lnSpc>
                <a:spcPct val="115000"/>
              </a:lnSpc>
              <a:spcBef>
                <a:spcPts val="0"/>
              </a:spcBef>
              <a:spcAft>
                <a:spcPts val="0"/>
              </a:spcAft>
              <a:buSzPts val="2100"/>
              <a:buChar char="●"/>
            </a:pPr>
            <a:r>
              <a:rPr b="1" lang="en-US" sz="2100"/>
              <a:t>Pricing: </a:t>
            </a:r>
            <a:r>
              <a:rPr lang="en-US" sz="2100"/>
              <a:t>Do relationships fall apart among “big ticket” items?</a:t>
            </a:r>
            <a:endParaRPr sz="2100"/>
          </a:p>
          <a:p>
            <a:pPr indent="0" lvl="0" marL="0" rtl="0" algn="l">
              <a:spcBef>
                <a:spcPts val="1200"/>
              </a:spcBef>
              <a:spcAft>
                <a:spcPts val="0"/>
              </a:spcAft>
              <a:buNone/>
            </a:pPr>
            <a:r>
              <a:t/>
            </a:r>
            <a:endParaRPr sz="3600"/>
          </a:p>
        </p:txBody>
      </p:sp>
      <p:sp>
        <p:nvSpPr>
          <p:cNvPr id="293" name="Google Shape;293;g2d5acf11040_0_47"/>
          <p:cNvSpPr txBox="1"/>
          <p:nvPr>
            <p:ph idx="2" type="body"/>
          </p:nvPr>
        </p:nvSpPr>
        <p:spPr>
          <a:xfrm>
            <a:off x="6172200" y="2007163"/>
            <a:ext cx="52578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2100"/>
              <a:t>Next Steps</a:t>
            </a:r>
            <a:r>
              <a:rPr lang="en-US" sz="2100"/>
              <a:t>:</a:t>
            </a:r>
            <a:endParaRPr sz="2100"/>
          </a:p>
          <a:p>
            <a:pPr indent="-361950" lvl="0" marL="457200" rtl="0" algn="l">
              <a:lnSpc>
                <a:spcPct val="115000"/>
              </a:lnSpc>
              <a:spcBef>
                <a:spcPts val="1200"/>
              </a:spcBef>
              <a:spcAft>
                <a:spcPts val="0"/>
              </a:spcAft>
              <a:buSzPts val="2100"/>
              <a:buChar char="●"/>
            </a:pPr>
            <a:r>
              <a:rPr lang="en-US" sz="2100"/>
              <a:t>Experiment with different support/confidence values for deeper insights.</a:t>
            </a:r>
            <a:endParaRPr sz="2100"/>
          </a:p>
          <a:p>
            <a:pPr indent="-361950" lvl="0" marL="457200" rtl="0" algn="l">
              <a:lnSpc>
                <a:spcPct val="115000"/>
              </a:lnSpc>
              <a:spcBef>
                <a:spcPts val="0"/>
              </a:spcBef>
              <a:spcAft>
                <a:spcPts val="0"/>
              </a:spcAft>
              <a:buSzPts val="2100"/>
              <a:buChar char="●"/>
            </a:pPr>
            <a:r>
              <a:rPr lang="en-US" sz="2100"/>
              <a:t>Leverage associations for personalized recommendations and marketing efforts.</a:t>
            </a:r>
            <a:endParaRPr sz="2100"/>
          </a:p>
          <a:p>
            <a:pPr indent="-361950" lvl="0" marL="457200" rtl="0" algn="l">
              <a:lnSpc>
                <a:spcPct val="115000"/>
              </a:lnSpc>
              <a:spcBef>
                <a:spcPts val="0"/>
              </a:spcBef>
              <a:spcAft>
                <a:spcPts val="0"/>
              </a:spcAft>
              <a:buSzPts val="2100"/>
              <a:buChar char="●"/>
            </a:pPr>
            <a:r>
              <a:rPr lang="en-US" sz="2100"/>
              <a:t>Incorporate customer segmentation to refine targeting strategies.</a:t>
            </a:r>
            <a:endParaRPr sz="2100"/>
          </a:p>
          <a:p>
            <a:pPr indent="0" lvl="0" marL="0" rtl="0" algn="l">
              <a:spcBef>
                <a:spcPts val="1200"/>
              </a:spcBef>
              <a:spcAft>
                <a:spcPts val="0"/>
              </a:spcAft>
              <a:buNone/>
            </a:pPr>
            <a:r>
              <a:t/>
            </a:r>
            <a:endParaRPr sz="3600"/>
          </a:p>
        </p:txBody>
      </p:sp>
      <p:sp>
        <p:nvSpPr>
          <p:cNvPr id="294" name="Google Shape;294;g2d5acf11040_0_47"/>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Importance of Market Basket Analysis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16a2bec62a_2_0"/>
          <p:cNvSpPr txBox="1"/>
          <p:nvPr>
            <p:ph idx="1" type="body"/>
          </p:nvPr>
        </p:nvSpPr>
        <p:spPr>
          <a:xfrm>
            <a:off x="212900" y="2007175"/>
            <a:ext cx="58068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1400"/>
              <a:t>Market Basket Analysis (MBA) has provided deep insights into customer purchasing behavior</a:t>
            </a:r>
            <a:r>
              <a:rPr lang="en-US" sz="1400"/>
              <a:t>:</a:t>
            </a:r>
            <a:endParaRPr sz="1400"/>
          </a:p>
          <a:p>
            <a:pPr indent="-317500" lvl="0" marL="457200" rtl="0" algn="l">
              <a:lnSpc>
                <a:spcPct val="115000"/>
              </a:lnSpc>
              <a:spcBef>
                <a:spcPts val="1200"/>
              </a:spcBef>
              <a:spcAft>
                <a:spcPts val="0"/>
              </a:spcAft>
              <a:buSzPts val="1400"/>
              <a:buChar char="●"/>
            </a:pPr>
            <a:r>
              <a:rPr lang="en-US" sz="1400"/>
              <a:t>Key item associations reveal opportunities for strategic product bundling and seasonal promotions.</a:t>
            </a:r>
            <a:endParaRPr sz="1400"/>
          </a:p>
          <a:p>
            <a:pPr indent="0" lvl="0" marL="0" rtl="0" algn="l">
              <a:lnSpc>
                <a:spcPct val="115000"/>
              </a:lnSpc>
              <a:spcBef>
                <a:spcPts val="1200"/>
              </a:spcBef>
              <a:spcAft>
                <a:spcPts val="0"/>
              </a:spcAft>
              <a:buClr>
                <a:schemeClr val="dk1"/>
              </a:buClr>
              <a:buSzPts val="1100"/>
              <a:buFont typeface="Arial"/>
              <a:buNone/>
            </a:pPr>
            <a:r>
              <a:rPr b="1" lang="en-US" sz="1400"/>
              <a:t>Actionable insights</a:t>
            </a:r>
            <a:r>
              <a:rPr lang="en-US" sz="1400"/>
              <a:t>:</a:t>
            </a:r>
            <a:endParaRPr sz="1400"/>
          </a:p>
          <a:p>
            <a:pPr indent="-317500" lvl="0" marL="457200" rtl="0" algn="l">
              <a:lnSpc>
                <a:spcPct val="115000"/>
              </a:lnSpc>
              <a:spcBef>
                <a:spcPts val="1200"/>
              </a:spcBef>
              <a:spcAft>
                <a:spcPts val="0"/>
              </a:spcAft>
              <a:buSzPts val="1400"/>
              <a:buChar char="●"/>
            </a:pPr>
            <a:r>
              <a:rPr lang="en-US" sz="1400"/>
              <a:t>By focusing on high-lift rules and strong confidence values, we can prioritize associations that can make a tangible impact on marketing and inventory strategies.</a:t>
            </a:r>
            <a:endParaRPr sz="1400"/>
          </a:p>
          <a:p>
            <a:pPr indent="0" lvl="0" marL="0" rtl="0" algn="l">
              <a:lnSpc>
                <a:spcPct val="115000"/>
              </a:lnSpc>
              <a:spcBef>
                <a:spcPts val="1200"/>
              </a:spcBef>
              <a:spcAft>
                <a:spcPts val="0"/>
              </a:spcAft>
              <a:buClr>
                <a:schemeClr val="dk1"/>
              </a:buClr>
              <a:buSzPts val="1100"/>
              <a:buFont typeface="Arial"/>
              <a:buNone/>
            </a:pPr>
            <a:r>
              <a:rPr b="1" lang="en-US" sz="1400"/>
              <a:t>MBA’s versatility extends far beyond retail</a:t>
            </a:r>
            <a:r>
              <a:rPr lang="en-US" sz="1400"/>
              <a:t>:</a:t>
            </a:r>
            <a:endParaRPr sz="1400"/>
          </a:p>
          <a:p>
            <a:pPr indent="-317500" lvl="0" marL="457200" rtl="0" algn="l">
              <a:lnSpc>
                <a:spcPct val="115000"/>
              </a:lnSpc>
              <a:spcBef>
                <a:spcPts val="1200"/>
              </a:spcBef>
              <a:spcAft>
                <a:spcPts val="0"/>
              </a:spcAft>
              <a:buSzPts val="1400"/>
              <a:buChar char="●"/>
            </a:pPr>
            <a:r>
              <a:rPr lang="en-US" sz="1400"/>
              <a:t>Applications include fraud detection, equipment failure prediction, healthcare analytics, and reducing telecom service churn.</a:t>
            </a:r>
            <a:endParaRPr sz="1400"/>
          </a:p>
          <a:p>
            <a:pPr indent="0" lvl="0" marL="0" rtl="0" algn="l">
              <a:lnSpc>
                <a:spcPct val="115000"/>
              </a:lnSpc>
              <a:spcBef>
                <a:spcPts val="1200"/>
              </a:spcBef>
              <a:spcAft>
                <a:spcPts val="0"/>
              </a:spcAft>
              <a:buClr>
                <a:schemeClr val="dk1"/>
              </a:buClr>
              <a:buSzPts val="1100"/>
              <a:buFont typeface="Arial"/>
              <a:buNone/>
            </a:pPr>
            <a:r>
              <a:rPr b="1" lang="en-US" sz="1400"/>
              <a:t>Next steps involve further optimization and customization</a:t>
            </a:r>
            <a:r>
              <a:rPr lang="en-US" sz="1400"/>
              <a:t>:</a:t>
            </a:r>
            <a:endParaRPr sz="1400"/>
          </a:p>
          <a:p>
            <a:pPr indent="-317500" lvl="0" marL="457200" rtl="0" algn="l">
              <a:lnSpc>
                <a:spcPct val="115000"/>
              </a:lnSpc>
              <a:spcBef>
                <a:spcPts val="1200"/>
              </a:spcBef>
              <a:spcAft>
                <a:spcPts val="0"/>
              </a:spcAft>
              <a:buSzPts val="1400"/>
              <a:buChar char="●"/>
            </a:pPr>
            <a:r>
              <a:rPr lang="en-US" sz="1400"/>
              <a:t>Experimenting with rule parameters and leveraging customer segmentation for personalized marketing strategies.</a:t>
            </a:r>
            <a:endParaRPr sz="1400"/>
          </a:p>
          <a:p>
            <a:pPr indent="0" lvl="0" marL="0" rtl="0" algn="l">
              <a:spcBef>
                <a:spcPts val="1200"/>
              </a:spcBef>
              <a:spcAft>
                <a:spcPts val="0"/>
              </a:spcAft>
              <a:buClr>
                <a:schemeClr val="dk1"/>
              </a:buClr>
              <a:buSzPts val="1100"/>
              <a:buFont typeface="Arial"/>
              <a:buNone/>
            </a:pPr>
            <a:r>
              <a:t/>
            </a:r>
            <a:endParaRPr b="1" sz="1700"/>
          </a:p>
          <a:p>
            <a:pPr indent="0" lvl="0" marL="0" rtl="0" algn="l">
              <a:spcBef>
                <a:spcPts val="1000"/>
              </a:spcBef>
              <a:spcAft>
                <a:spcPts val="0"/>
              </a:spcAft>
              <a:buNone/>
            </a:pPr>
            <a:r>
              <a:t/>
            </a:r>
            <a:endParaRPr sz="3200"/>
          </a:p>
        </p:txBody>
      </p:sp>
      <p:sp>
        <p:nvSpPr>
          <p:cNvPr id="301" name="Google Shape;301;g316a2bec62a_2_0"/>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Conclusion</a:t>
            </a:r>
            <a:endParaRPr/>
          </a:p>
        </p:txBody>
      </p:sp>
      <p:pic>
        <p:nvPicPr>
          <p:cNvPr id="302" name="Google Shape;302;g316a2bec62a_2_0"/>
          <p:cNvPicPr preferRelativeResize="0"/>
          <p:nvPr/>
        </p:nvPicPr>
        <p:blipFill>
          <a:blip r:embed="rId3">
            <a:alphaModFix/>
          </a:blip>
          <a:stretch>
            <a:fillRect/>
          </a:stretch>
        </p:blipFill>
        <p:spPr>
          <a:xfrm>
            <a:off x="6420625" y="2061875"/>
            <a:ext cx="5474425" cy="2935950"/>
          </a:xfrm>
          <a:prstGeom prst="rect">
            <a:avLst/>
          </a:prstGeom>
          <a:noFill/>
          <a:ln>
            <a:noFill/>
          </a:ln>
        </p:spPr>
      </p:pic>
      <p:sp>
        <p:nvSpPr>
          <p:cNvPr id="303" name="Google Shape;303;g316a2bec62a_2_0"/>
          <p:cNvSpPr txBox="1"/>
          <p:nvPr>
            <p:ph idx="1" type="body"/>
          </p:nvPr>
        </p:nvSpPr>
        <p:spPr>
          <a:xfrm>
            <a:off x="6638375" y="5203966"/>
            <a:ext cx="5181600" cy="9180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Thank you!</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2d5acf11040_0_7"/>
          <p:cNvSpPr txBox="1"/>
          <p:nvPr>
            <p:ph idx="1" type="body"/>
          </p:nvPr>
        </p:nvSpPr>
        <p:spPr>
          <a:xfrm>
            <a:off x="838200" y="2007175"/>
            <a:ext cx="9481500" cy="4114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b="1" lang="en-US" sz="1700"/>
              <a:t>Turing</a:t>
            </a:r>
            <a:r>
              <a:rPr lang="en-US" sz="1700"/>
              <a:t>. "Market Basket Analysis". Available at:</a:t>
            </a:r>
            <a:r>
              <a:rPr lang="en-US" sz="1700">
                <a:uFill>
                  <a:noFill/>
                </a:uFill>
                <a:hlinkClick r:id="rId3"/>
              </a:rPr>
              <a:t> </a:t>
            </a:r>
            <a:r>
              <a:rPr lang="en-US" sz="1700" u="sng">
                <a:solidFill>
                  <a:schemeClr val="hlink"/>
                </a:solidFill>
                <a:hlinkClick r:id="rId4"/>
              </a:rPr>
              <a:t>https://www.turing.com/kb/market-basket-analysis</a:t>
            </a:r>
            <a:endParaRPr sz="1700" u="sng">
              <a:solidFill>
                <a:schemeClr val="hlink"/>
              </a:solidFill>
            </a:endParaRPr>
          </a:p>
          <a:p>
            <a:pPr indent="0" lvl="0" marL="0" rtl="0" algn="l">
              <a:spcBef>
                <a:spcPts val="1000"/>
              </a:spcBef>
              <a:spcAft>
                <a:spcPts val="0"/>
              </a:spcAft>
              <a:buClr>
                <a:schemeClr val="dk1"/>
              </a:buClr>
              <a:buSzPts val="1100"/>
              <a:buFont typeface="Arial"/>
              <a:buNone/>
            </a:pPr>
            <a:r>
              <a:rPr b="1" lang="en-US" sz="1700"/>
              <a:t>Analytics Vidhya</a:t>
            </a:r>
            <a:r>
              <a:rPr lang="en-US" sz="1700"/>
              <a:t>. "A Comprehensive Guide on Market Basket Analysis". Available at:</a:t>
            </a:r>
            <a:r>
              <a:rPr lang="en-US" sz="1700">
                <a:uFill>
                  <a:noFill/>
                </a:uFill>
                <a:hlinkClick r:id="rId5"/>
              </a:rPr>
              <a:t> </a:t>
            </a:r>
            <a:r>
              <a:rPr lang="en-US" sz="1700" u="sng">
                <a:solidFill>
                  <a:schemeClr val="hlink"/>
                </a:solidFill>
                <a:hlinkClick r:id="rId6"/>
              </a:rPr>
              <a:t>https://www.analyticsvidhya.com/blog/2021/10/a-comprehensive-guide-on-market-basket-analysis/</a:t>
            </a:r>
            <a:endParaRPr sz="1700" u="sng">
              <a:solidFill>
                <a:schemeClr val="hlink"/>
              </a:solidFill>
            </a:endParaRPr>
          </a:p>
          <a:p>
            <a:pPr indent="0" lvl="0" marL="0" rtl="0" algn="l">
              <a:spcBef>
                <a:spcPts val="1000"/>
              </a:spcBef>
              <a:spcAft>
                <a:spcPts val="0"/>
              </a:spcAft>
              <a:buClr>
                <a:schemeClr val="dk1"/>
              </a:buClr>
              <a:buSzPts val="1100"/>
              <a:buFont typeface="Arial"/>
              <a:buNone/>
            </a:pPr>
            <a:r>
              <a:rPr b="1" lang="en-US" sz="1700"/>
              <a:t>Towards Data Science</a:t>
            </a:r>
            <a:r>
              <a:rPr lang="en-US" sz="1700"/>
              <a:t>. "A Gentle Introduction on Market Basket Analysis &amp; Association Rules". Available at:</a:t>
            </a:r>
            <a:r>
              <a:rPr lang="en-US" sz="1700">
                <a:uFill>
                  <a:noFill/>
                </a:uFill>
                <a:hlinkClick r:id="rId7"/>
              </a:rPr>
              <a:t> </a:t>
            </a:r>
            <a:r>
              <a:rPr lang="en-US" sz="1700" u="sng">
                <a:solidFill>
                  <a:schemeClr val="hlink"/>
                </a:solidFill>
                <a:hlinkClick r:id="rId8"/>
              </a:rPr>
              <a:t>https://towardsdatascience.com/a-gentle-introduction-on-market-basket-analysis-association-rules-fa4b986a40ce</a:t>
            </a:r>
            <a:endParaRPr sz="1700" u="sng">
              <a:solidFill>
                <a:schemeClr val="hlink"/>
              </a:solidFill>
            </a:endParaRPr>
          </a:p>
          <a:p>
            <a:pPr indent="0" lvl="0" marL="0" rtl="0" algn="l">
              <a:spcBef>
                <a:spcPts val="1000"/>
              </a:spcBef>
              <a:spcAft>
                <a:spcPts val="0"/>
              </a:spcAft>
              <a:buClr>
                <a:schemeClr val="dk1"/>
              </a:buClr>
              <a:buSzPts val="1100"/>
              <a:buFont typeface="Arial"/>
              <a:buNone/>
            </a:pPr>
            <a:r>
              <a:rPr b="1" lang="en-US" sz="1700"/>
              <a:t>Analytics Vidhya</a:t>
            </a:r>
            <a:r>
              <a:rPr lang="en-US" sz="1700"/>
              <a:t>. "End-to-End Introduction to Market Basket Analysis in R". Available at:</a:t>
            </a:r>
            <a:r>
              <a:rPr lang="en-US" sz="1700">
                <a:uFill>
                  <a:noFill/>
                </a:uFill>
                <a:hlinkClick r:id="rId9"/>
              </a:rPr>
              <a:t> </a:t>
            </a:r>
            <a:r>
              <a:rPr lang="en-US" sz="1700" u="sng">
                <a:solidFill>
                  <a:schemeClr val="hlink"/>
                </a:solidFill>
                <a:hlinkClick r:id="rId10"/>
              </a:rPr>
              <a:t>https://www.analyticsvidhya.com/blog/2021/10/end-to-end-introduction-to-market-basket-analysis-in-r/</a:t>
            </a:r>
            <a:endParaRPr sz="1700" u="sng">
              <a:solidFill>
                <a:schemeClr val="hlink"/>
              </a:solidFill>
            </a:endParaRPr>
          </a:p>
          <a:p>
            <a:pPr indent="0" lvl="0" marL="0" rtl="0" algn="l">
              <a:spcBef>
                <a:spcPts val="1000"/>
              </a:spcBef>
              <a:spcAft>
                <a:spcPts val="0"/>
              </a:spcAft>
              <a:buClr>
                <a:schemeClr val="dk1"/>
              </a:buClr>
              <a:buSzPts val="1100"/>
              <a:buFont typeface="Arial"/>
              <a:buNone/>
            </a:pPr>
            <a:r>
              <a:rPr b="1" lang="en-US" sz="1700"/>
              <a:t>Kaggle</a:t>
            </a:r>
            <a:r>
              <a:rPr lang="en-US" sz="1700"/>
              <a:t>. "Online Retail II (UCI) Dataset". Available at:</a:t>
            </a:r>
            <a:r>
              <a:rPr lang="en-US" sz="1700">
                <a:uFill>
                  <a:noFill/>
                </a:uFill>
                <a:hlinkClick r:id="rId11"/>
              </a:rPr>
              <a:t> </a:t>
            </a:r>
            <a:r>
              <a:rPr lang="en-US" sz="1700" u="sng">
                <a:solidFill>
                  <a:schemeClr val="hlink"/>
                </a:solidFill>
                <a:hlinkClick r:id="rId12"/>
              </a:rPr>
              <a:t>https://www.kaggle.com/datasets/mashlyn/online-retail-ii-uci</a:t>
            </a:r>
            <a:endParaRPr sz="1700" u="sng">
              <a:solidFill>
                <a:schemeClr val="hlink"/>
              </a:solidFill>
            </a:endParaRPr>
          </a:p>
          <a:p>
            <a:pPr indent="0" lvl="0" marL="0" rtl="0" algn="l">
              <a:spcBef>
                <a:spcPts val="1000"/>
              </a:spcBef>
              <a:spcAft>
                <a:spcPts val="0"/>
              </a:spcAft>
              <a:buNone/>
            </a:pPr>
            <a:r>
              <a:t/>
            </a:r>
            <a:endParaRPr/>
          </a:p>
        </p:txBody>
      </p:sp>
      <p:sp>
        <p:nvSpPr>
          <p:cNvPr id="310" name="Google Shape;310;g2d5acf11040_0_7"/>
          <p:cNvSpPr txBox="1"/>
          <p:nvPr>
            <p:ph type="title"/>
          </p:nvPr>
        </p:nvSpPr>
        <p:spPr>
          <a:xfrm>
            <a:off x="839788" y="318248"/>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NY GRAPHIC STANDARDS">
      <a:dk1>
        <a:srgbClr val="000000"/>
      </a:dk1>
      <a:lt1>
        <a:srgbClr val="FFFFFF"/>
      </a:lt1>
      <a:dk2>
        <a:srgbClr val="44546A"/>
      </a:dk2>
      <a:lt2>
        <a:srgbClr val="1C3C8B"/>
      </a:lt2>
      <a:accent1>
        <a:srgbClr val="1C3A83"/>
      </a:accent1>
      <a:accent2>
        <a:srgbClr val="FEB71A"/>
      </a:accent2>
      <a:accent3>
        <a:srgbClr val="C1D500"/>
      </a:accent3>
      <a:accent4>
        <a:srgbClr val="5BCAE7"/>
      </a:accent4>
      <a:accent5>
        <a:srgbClr val="E40346"/>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2024-11-14T22:28:59Z</dcterms:created>
  <dc:creator>Vlad Nimchenko</dc:creator>
</cp:coreProperties>
</file>